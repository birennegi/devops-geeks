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 %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1B3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Idle VMs</c:v>
                  </c:pt>
                  <c:pt idx="1">
                    <c:v>Reserved Instances</c:v>
                  </c:pt>
                  <c:pt idx="2">
                    <c:v>Hybrid Benefit</c:v>
                  </c:pt>
                  <c:pt idx="3">
                    <c:v>Storage Tiers</c:v>
                  </c:pt>
                  <c:pt idx="4">
                    <c:v>Orphaned Resources</c:v>
                  </c:pt>
                  <c:pt idx="5">
                    <c:v>Dev/Test Shutdown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40</c:v>
                </c:pt>
                <c:pt idx="2">
                  <c:v>30</c:v>
                </c:pt>
                <c:pt idx="3">
                  <c:v>18</c:v>
                </c:pt>
                <c:pt idx="4">
                  <c:v>8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2416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416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416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280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52144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52144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52144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2144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52144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52144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52144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2144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26880" y="1280160"/>
            <a:ext cx="2011680" cy="201168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15000"/>
              </a:srgbClr>
            </a:solidFill>
            <a:prstDash val="solid"/>
          </a:ln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600200"/>
            <a:ext cx="1005840" cy="100584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41148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411480" y="12344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4400" dirty="0"/>
          </a:p>
        </p:txBody>
      </p:sp>
      <p:sp>
        <p:nvSpPr>
          <p:cNvPr id="57" name="Text 54"/>
          <p:cNvSpPr/>
          <p:nvPr/>
        </p:nvSpPr>
        <p:spPr>
          <a:xfrm>
            <a:off x="411480" y="32461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reduce your Azure spend by up to 40%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proven, risk-free approach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411480" y="4480560"/>
            <a:ext cx="2194560" cy="804672"/>
          </a:xfrm>
          <a:prstGeom prst="rect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11480" y="4517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2000" dirty="0"/>
          </a:p>
        </p:txBody>
      </p:sp>
      <p:sp>
        <p:nvSpPr>
          <p:cNvPr id="60" name="Text 57"/>
          <p:cNvSpPr/>
          <p:nvPr/>
        </p:nvSpPr>
        <p:spPr>
          <a:xfrm>
            <a:off x="411480" y="48828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Savings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880360" y="4480560"/>
            <a:ext cx="2194560" cy="804672"/>
          </a:xfrm>
          <a:prstGeom prst="rect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880360" y="4517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2880360" y="48828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5349240" y="4480560"/>
            <a:ext cx="2194560" cy="804672"/>
          </a:xfrm>
          <a:prstGeom prst="rect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349240" y="4517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000" dirty="0"/>
          </a:p>
        </p:txBody>
      </p:sp>
      <p:sp>
        <p:nvSpPr>
          <p:cNvPr id="66" name="Text 63"/>
          <p:cNvSpPr/>
          <p:nvPr/>
        </p:nvSpPr>
        <p:spPr>
          <a:xfrm>
            <a:off x="5349240" y="48828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11480" y="6528816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Azure FinOps Practice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AZURE COSTS SPIRAL OUT OF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cost governance program, most organizations overpay by 30–50% every month.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91640"/>
            <a:ext cx="502920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3317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&amp; Oversized VMs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running at &lt; 5% CPU 24/7. Dev servers left on over weekends.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691640"/>
            <a:ext cx="502920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3317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19472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Resources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19472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disks, stale snapshots, unattached public IPs accumulating costs.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3880" y="169164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1691640"/>
            <a:ext cx="502920" cy="1920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3317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05672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Tagging Strategy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805672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attribution. Nobody owns costs. Budgets are impossible to set.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11480" y="38404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11480" y="3840480"/>
            <a:ext cx="502920" cy="1920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44805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3272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Only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33272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Reserved Instances or Savings Plans — paying full rack rate.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97680" y="38404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0" y="3840480"/>
            <a:ext cx="502920" cy="192024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448056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19472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Egress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919472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data transfer and unoptimized CDN driving hidden charges.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83880" y="38404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83880" y="3840480"/>
            <a:ext cx="502920" cy="19202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448056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05672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805672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mean waste is discovered months late, if at all.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4-Phase Continuous Cost Optimization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7315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7099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Discovery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3108960"/>
            <a:ext cx="2103120" cy="0"/>
          </a:xfrm>
          <a:prstGeom prst="line">
            <a:avLst/>
          </a:prstGeom>
          <a:noFill/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Azure Cost Management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all resources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48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5528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10 cost drivers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2920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95528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billing to storage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104" y="379476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319272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319272" y="1508760"/>
            <a:ext cx="265176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319272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2392" y="1709928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410712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3410712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Waste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3593592" y="3108960"/>
            <a:ext cx="2103120" cy="0"/>
          </a:xfrm>
          <a:prstGeom prst="line">
            <a:avLst/>
          </a:prstGeom>
          <a:noFill/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24612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703320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orphaned resources</a:t>
            </a:r>
            <a:endParaRPr lang="en-US" sz="9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6432" y="3840480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703320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idle VMs</a:t>
            </a:r>
            <a:endParaRPr lang="en-US" sz="9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6432" y="4434840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703320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Hybrid Benefit</a:t>
            </a:r>
            <a:endParaRPr lang="en-US" sz="95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6432" y="5029200"/>
            <a:ext cx="182880" cy="18288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703320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Auto-shutdown dev/test</a:t>
            </a:r>
            <a:endParaRPr lang="en-US" sz="9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5896" y="379476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6227064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6227064" y="1508760"/>
            <a:ext cx="2651760" cy="7315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6227064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0184" y="1709928"/>
            <a:ext cx="347472" cy="34747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318504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42" name="Text 27"/>
          <p:cNvSpPr/>
          <p:nvPr/>
        </p:nvSpPr>
        <p:spPr>
          <a:xfrm>
            <a:off x="6318504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&amp; Commit</a:t>
            </a:r>
            <a:endParaRPr lang="en-US" sz="950" dirty="0"/>
          </a:p>
        </p:txBody>
      </p:sp>
      <p:sp>
        <p:nvSpPr>
          <p:cNvPr id="43" name="Shape 28"/>
          <p:cNvSpPr/>
          <p:nvPr/>
        </p:nvSpPr>
        <p:spPr>
          <a:xfrm>
            <a:off x="6501384" y="3108960"/>
            <a:ext cx="2103120" cy="0"/>
          </a:xfrm>
          <a:prstGeom prst="line">
            <a:avLst/>
          </a:prstGeom>
          <a:noFill/>
          <a:ln w="12700">
            <a:solidFill>
              <a:srgbClr val="F9A825">
                <a:alpha val="50000"/>
              </a:srgbClr>
            </a:solidFill>
            <a:prstDash val="solid"/>
          </a:ln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4224" y="3246120"/>
            <a:ext cx="182880" cy="182880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611112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rightsizing (Advisor)</a:t>
            </a:r>
            <a:endParaRPr lang="en-US" sz="95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4224" y="3840480"/>
            <a:ext cx="182880" cy="18288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611112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Reserved Instances</a:t>
            </a:r>
            <a:endParaRPr lang="en-US" sz="95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4224" y="4434840"/>
            <a:ext cx="182880" cy="18288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6611112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Plans strategy</a:t>
            </a:r>
            <a:endParaRPr lang="en-US" sz="95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4224" y="5029200"/>
            <a:ext cx="182880" cy="182880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6611112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tier automation</a:t>
            </a:r>
            <a:endParaRPr lang="en-US" sz="950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3688" y="3794760"/>
            <a:ext cx="182880" cy="182880"/>
          </a:xfrm>
          <a:prstGeom prst="rect">
            <a:avLst/>
          </a:prstGeom>
        </p:spPr>
      </p:pic>
      <p:sp>
        <p:nvSpPr>
          <p:cNvPr id="53" name="Shape 33"/>
          <p:cNvSpPr/>
          <p:nvPr/>
        </p:nvSpPr>
        <p:spPr>
          <a:xfrm>
            <a:off x="9134856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4" name="Shape 34"/>
          <p:cNvSpPr/>
          <p:nvPr/>
        </p:nvSpPr>
        <p:spPr>
          <a:xfrm>
            <a:off x="9134856" y="1508760"/>
            <a:ext cx="2651760" cy="7315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5" name="Text 35"/>
          <p:cNvSpPr/>
          <p:nvPr/>
        </p:nvSpPr>
        <p:spPr>
          <a:xfrm>
            <a:off x="9134856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37976" y="1709928"/>
            <a:ext cx="347472" cy="347472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9226296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600" dirty="0"/>
          </a:p>
        </p:txBody>
      </p:sp>
      <p:sp>
        <p:nvSpPr>
          <p:cNvPr id="58" name="Text 37"/>
          <p:cNvSpPr/>
          <p:nvPr/>
        </p:nvSpPr>
        <p:spPr>
          <a:xfrm>
            <a:off x="9226296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&amp; Monitor</a:t>
            </a:r>
            <a:endParaRPr lang="en-US" sz="950" dirty="0"/>
          </a:p>
        </p:txBody>
      </p:sp>
      <p:sp>
        <p:nvSpPr>
          <p:cNvPr id="59" name="Shape 38"/>
          <p:cNvSpPr/>
          <p:nvPr/>
        </p:nvSpPr>
        <p:spPr>
          <a:xfrm>
            <a:off x="9409176" y="3108960"/>
            <a:ext cx="2103120" cy="0"/>
          </a:xfrm>
          <a:prstGeom prst="line">
            <a:avLst/>
          </a:prstGeom>
          <a:noFill/>
          <a:ln w="12700">
            <a:solidFill>
              <a:srgbClr val="43A047">
                <a:alpha val="50000"/>
              </a:srgbClr>
            </a:solidFill>
            <a:prstDash val="solid"/>
          </a:ln>
        </p:spPr>
      </p:sp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2016" y="3246120"/>
            <a:ext cx="182880" cy="182880"/>
          </a:xfrm>
          <a:prstGeom prst="rect">
            <a:avLst/>
          </a:prstGeom>
        </p:spPr>
      </p:pic>
      <p:sp>
        <p:nvSpPr>
          <p:cNvPr id="61" name="Text 39"/>
          <p:cNvSpPr/>
          <p:nvPr/>
        </p:nvSpPr>
        <p:spPr>
          <a:xfrm>
            <a:off x="9518904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&amp; anomaly detection</a:t>
            </a:r>
            <a:endParaRPr lang="en-US" sz="950" dirty="0"/>
          </a:p>
        </p:txBody>
      </p:sp>
      <p:pic>
        <p:nvPicPr>
          <p:cNvPr id="6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72016" y="3840480"/>
            <a:ext cx="182880" cy="182880"/>
          </a:xfrm>
          <a:prstGeom prst="rect">
            <a:avLst/>
          </a:prstGeom>
        </p:spPr>
      </p:pic>
      <p:sp>
        <p:nvSpPr>
          <p:cNvPr id="63" name="Text 40"/>
          <p:cNvSpPr/>
          <p:nvPr/>
        </p:nvSpPr>
        <p:spPr>
          <a:xfrm>
            <a:off x="9518904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enforcement</a:t>
            </a:r>
            <a:endParaRPr lang="en-US" sz="950" dirty="0"/>
          </a:p>
        </p:txBody>
      </p:sp>
      <p:pic>
        <p:nvPicPr>
          <p:cNvPr id="6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72016" y="4434840"/>
            <a:ext cx="182880" cy="182880"/>
          </a:xfrm>
          <a:prstGeom prst="rect">
            <a:avLst/>
          </a:prstGeom>
        </p:spPr>
      </p:pic>
      <p:sp>
        <p:nvSpPr>
          <p:cNvPr id="65" name="Text 41"/>
          <p:cNvSpPr/>
          <p:nvPr/>
        </p:nvSpPr>
        <p:spPr>
          <a:xfrm>
            <a:off x="9518904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FinOps reviews</a:t>
            </a:r>
            <a:endParaRPr lang="en-US" sz="950" dirty="0"/>
          </a:p>
        </p:txBody>
      </p:sp>
      <p:pic>
        <p:nvPicPr>
          <p:cNvPr id="6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72016" y="5029200"/>
            <a:ext cx="182880" cy="182880"/>
          </a:xfrm>
          <a:prstGeom prst="rect">
            <a:avLst/>
          </a:prstGeom>
        </p:spPr>
      </p:pic>
      <p:sp>
        <p:nvSpPr>
          <p:cNvPr id="67" name="Text 42"/>
          <p:cNvSpPr/>
          <p:nvPr/>
        </p:nvSpPr>
        <p:spPr>
          <a:xfrm>
            <a:off x="9518904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cost dashboard</a:t>
            </a:r>
            <a:endParaRPr lang="en-US" sz="950" dirty="0"/>
          </a:p>
        </p:txBody>
      </p:sp>
      <p:sp>
        <p:nvSpPr>
          <p:cNvPr id="68" name="Shape 4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69" name="Text 4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OPTIMIZE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36576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0759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408176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44952" y="1280160"/>
            <a:ext cx="914400" cy="36576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4952" y="1307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35%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(VMs)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1929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idle VMs via CPU metrics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8952" y="2313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to optimal SKU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1576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8952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auto-shutdown schedules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99816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8952" y="3081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workloads to fewer VMs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297680" y="11430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297680" y="1143000"/>
            <a:ext cx="36576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434840" y="1307592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1408176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931152" y="1280160"/>
            <a:ext cx="914400" cy="36576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931152" y="1307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65%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98348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&amp; Licensing</a:t>
            </a:r>
            <a:endParaRPr lang="en-US" sz="12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1947672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645152" y="1929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1-yr / 3-yr Reserved Instances</a:t>
            </a:r>
            <a:endParaRPr lang="en-US" sz="9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2331720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645152" y="2313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Hybrid Benefit (Windows/SQL)</a:t>
            </a:r>
            <a:endParaRPr lang="en-US" sz="9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271576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645152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Savings Plans</a:t>
            </a:r>
            <a:endParaRPr lang="en-US" sz="9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3099816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645152" y="3081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subscription pricing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8183880" y="11430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8183880" y="1143000"/>
            <a:ext cx="36576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8321040" y="1307592"/>
            <a:ext cx="475488" cy="47548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1624" y="1408176"/>
            <a:ext cx="274320" cy="274320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10817352" y="1280160"/>
            <a:ext cx="914400" cy="365760"/>
          </a:xfrm>
          <a:prstGeom prst="rect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9A825">
                <a:alpha val="30000"/>
              </a:srgbClr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10817352" y="1307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40%</a:t>
            </a:r>
            <a:endParaRPr lang="en-US" sz="900" dirty="0"/>
          </a:p>
        </p:txBody>
      </p:sp>
      <p:sp>
        <p:nvSpPr>
          <p:cNvPr id="41" name="Text 28"/>
          <p:cNvSpPr/>
          <p:nvPr/>
        </p:nvSpPr>
        <p:spPr>
          <a:xfrm>
            <a:off x="886968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Databases</a:t>
            </a:r>
            <a:endParaRPr lang="en-US" sz="12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1947672"/>
            <a:ext cx="164592" cy="16459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531352" y="1929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lifecycle (Hot → Archive)</a:t>
            </a:r>
            <a:endParaRPr lang="en-US" sz="95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040" y="2331720"/>
            <a:ext cx="164592" cy="164592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8531352" y="2313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 SQL Serverless DBs</a:t>
            </a:r>
            <a:endParaRPr lang="en-US" sz="95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2715768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8531352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Pool right-sizing</a:t>
            </a:r>
            <a:endParaRPr lang="en-US" sz="95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040" y="3099816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8531352" y="3081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orphaned snapshots &amp; disks</a:t>
            </a:r>
            <a:endParaRPr lang="en-US" sz="950" dirty="0"/>
          </a:p>
        </p:txBody>
      </p:sp>
      <p:sp>
        <p:nvSpPr>
          <p:cNvPr id="50" name="Shape 33"/>
          <p:cNvSpPr/>
          <p:nvPr/>
        </p:nvSpPr>
        <p:spPr>
          <a:xfrm>
            <a:off x="41148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34"/>
          <p:cNvSpPr/>
          <p:nvPr/>
        </p:nvSpPr>
        <p:spPr>
          <a:xfrm>
            <a:off x="411480" y="3657600"/>
            <a:ext cx="3657600" cy="73152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52" name="Shape 35"/>
          <p:cNvSpPr/>
          <p:nvPr/>
        </p:nvSpPr>
        <p:spPr>
          <a:xfrm>
            <a:off x="548640" y="3822192"/>
            <a:ext cx="475488" cy="475488"/>
          </a:xfrm>
          <a:prstGeom prst="ellipse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224" y="3922776"/>
            <a:ext cx="274320" cy="274320"/>
          </a:xfrm>
          <a:prstGeom prst="rect">
            <a:avLst/>
          </a:prstGeom>
        </p:spPr>
      </p:pic>
      <p:sp>
        <p:nvSpPr>
          <p:cNvPr id="54" name="Shape 36"/>
          <p:cNvSpPr/>
          <p:nvPr/>
        </p:nvSpPr>
        <p:spPr>
          <a:xfrm>
            <a:off x="3044952" y="3794760"/>
            <a:ext cx="914400" cy="365760"/>
          </a:xfrm>
          <a:prstGeom prst="rect">
            <a:avLst/>
          </a:prstGeom>
          <a:solidFill>
            <a:srgbClr val="1A2F5C">
              <a:alpha val="15000"/>
            </a:srgbClr>
          </a:solidFill>
          <a:ln w="12700">
            <a:solidFill>
              <a:srgbClr val="1A2F5C">
                <a:alpha val="30000"/>
              </a:srgbClr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3044952" y="3822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00" dirty="0"/>
          </a:p>
        </p:txBody>
      </p:sp>
      <p:sp>
        <p:nvSpPr>
          <p:cNvPr id="56" name="Text 38"/>
          <p:cNvSpPr/>
          <p:nvPr/>
        </p:nvSpPr>
        <p:spPr>
          <a:xfrm>
            <a:off x="10972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&amp; Governance</a:t>
            </a:r>
            <a:endParaRPr lang="en-US" sz="125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8640" y="4462272"/>
            <a:ext cx="164592" cy="164592"/>
          </a:xfrm>
          <a:prstGeom prst="rect">
            <a:avLst/>
          </a:prstGeom>
        </p:spPr>
      </p:pic>
      <p:sp>
        <p:nvSpPr>
          <p:cNvPr id="58" name="Text 39"/>
          <p:cNvSpPr/>
          <p:nvPr/>
        </p:nvSpPr>
        <p:spPr>
          <a:xfrm>
            <a:off x="758952" y="4443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mandatory tags via Policy</a:t>
            </a:r>
            <a:endParaRPr lang="en-US" sz="95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" y="4846320"/>
            <a:ext cx="164592" cy="164592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758952" y="4828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to cost centers</a:t>
            </a:r>
            <a:endParaRPr lang="en-US" sz="950" dirty="0"/>
          </a:p>
        </p:txBody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8640" y="5230368"/>
            <a:ext cx="164592" cy="164592"/>
          </a:xfrm>
          <a:prstGeom prst="rect">
            <a:avLst/>
          </a:prstGeom>
        </p:spPr>
      </p:pic>
      <p:sp>
        <p:nvSpPr>
          <p:cNvPr id="62" name="Text 41"/>
          <p:cNvSpPr/>
          <p:nvPr/>
        </p:nvSpPr>
        <p:spPr>
          <a:xfrm>
            <a:off x="758952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at 80% / 100%</a:t>
            </a:r>
            <a:endParaRPr lang="en-US" sz="950" dirty="0"/>
          </a:p>
        </p:txBody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8640" y="5614416"/>
            <a:ext cx="164592" cy="164592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758952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expensive VM SKUs</a:t>
            </a:r>
            <a:endParaRPr lang="en-US" sz="950" dirty="0"/>
          </a:p>
        </p:txBody>
      </p:sp>
      <p:sp>
        <p:nvSpPr>
          <p:cNvPr id="65" name="Shape 43"/>
          <p:cNvSpPr/>
          <p:nvPr/>
        </p:nvSpPr>
        <p:spPr>
          <a:xfrm>
            <a:off x="429768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44"/>
          <p:cNvSpPr/>
          <p:nvPr/>
        </p:nvSpPr>
        <p:spPr>
          <a:xfrm>
            <a:off x="4297680" y="3657600"/>
            <a:ext cx="365760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7" name="Shape 45"/>
          <p:cNvSpPr/>
          <p:nvPr/>
        </p:nvSpPr>
        <p:spPr>
          <a:xfrm>
            <a:off x="4434840" y="3822192"/>
            <a:ext cx="475488" cy="47548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35424" y="3922776"/>
            <a:ext cx="274320" cy="274320"/>
          </a:xfrm>
          <a:prstGeom prst="rect">
            <a:avLst/>
          </a:prstGeom>
        </p:spPr>
      </p:pic>
      <p:sp>
        <p:nvSpPr>
          <p:cNvPr id="69" name="Shape 46"/>
          <p:cNvSpPr/>
          <p:nvPr/>
        </p:nvSpPr>
        <p:spPr>
          <a:xfrm>
            <a:off x="6931152" y="3794760"/>
            <a:ext cx="914400" cy="365760"/>
          </a:xfrm>
          <a:prstGeom prst="rect">
            <a:avLst/>
          </a:prstGeom>
          <a:solidFill>
            <a:srgbClr val="43A047">
              <a:alpha val="15000"/>
            </a:srgbClr>
          </a:solidFill>
          <a:ln w="12700">
            <a:solidFill>
              <a:srgbClr val="43A047">
                <a:alpha val="30000"/>
              </a:srgbClr>
            </a:solidFill>
            <a:prstDash val="solid"/>
          </a:ln>
        </p:spPr>
      </p:sp>
      <p:sp>
        <p:nvSpPr>
          <p:cNvPr id="70" name="Text 47"/>
          <p:cNvSpPr/>
          <p:nvPr/>
        </p:nvSpPr>
        <p:spPr>
          <a:xfrm>
            <a:off x="6931152" y="3822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20%</a:t>
            </a:r>
            <a:endParaRPr lang="en-US" sz="900" dirty="0"/>
          </a:p>
        </p:txBody>
      </p:sp>
      <p:sp>
        <p:nvSpPr>
          <p:cNvPr id="71" name="Text 48"/>
          <p:cNvSpPr/>
          <p:nvPr/>
        </p:nvSpPr>
        <p:spPr>
          <a:xfrm>
            <a:off x="49834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50" dirty="0"/>
          </a:p>
        </p:txBody>
      </p:sp>
      <p:pic>
        <p:nvPicPr>
          <p:cNvPr id="7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34840" y="4462272"/>
            <a:ext cx="164592" cy="164592"/>
          </a:xfrm>
          <a:prstGeom prst="rect">
            <a:avLst/>
          </a:prstGeom>
        </p:spPr>
      </p:pic>
      <p:sp>
        <p:nvSpPr>
          <p:cNvPr id="73" name="Text 49"/>
          <p:cNvSpPr/>
          <p:nvPr/>
        </p:nvSpPr>
        <p:spPr>
          <a:xfrm>
            <a:off x="4645152" y="4443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idle Load Balancers</a:t>
            </a:r>
            <a:endParaRPr lang="en-US" sz="950" dirty="0"/>
          </a:p>
        </p:txBody>
      </p:sp>
      <p:pic>
        <p:nvPicPr>
          <p:cNvPr id="7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34840" y="4846320"/>
            <a:ext cx="164592" cy="164592"/>
          </a:xfrm>
          <a:prstGeom prst="rect">
            <a:avLst/>
          </a:prstGeom>
        </p:spPr>
      </p:pic>
      <p:sp>
        <p:nvSpPr>
          <p:cNvPr id="75" name="Text 50"/>
          <p:cNvSpPr/>
          <p:nvPr/>
        </p:nvSpPr>
        <p:spPr>
          <a:xfrm>
            <a:off x="4645152" y="4828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Public IPs &amp; NICs</a:t>
            </a:r>
            <a:endParaRPr lang="en-US" sz="950" dirty="0"/>
          </a:p>
        </p:txBody>
      </p:sp>
      <p:pic>
        <p:nvPicPr>
          <p:cNvPr id="7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34840" y="5230368"/>
            <a:ext cx="164592" cy="164592"/>
          </a:xfrm>
          <a:prstGeom prst="rect">
            <a:avLst/>
          </a:prstGeom>
        </p:spPr>
      </p:pic>
      <p:sp>
        <p:nvSpPr>
          <p:cNvPr id="77" name="Text 51"/>
          <p:cNvSpPr/>
          <p:nvPr/>
        </p:nvSpPr>
        <p:spPr>
          <a:xfrm>
            <a:off x="4645152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NAT Gateway usage</a:t>
            </a:r>
            <a:endParaRPr lang="en-US" sz="950" dirty="0"/>
          </a:p>
        </p:txBody>
      </p:sp>
      <p:pic>
        <p:nvPicPr>
          <p:cNvPr id="7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34840" y="5614416"/>
            <a:ext cx="164592" cy="164592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4645152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CDN for static assets</a:t>
            </a:r>
            <a:endParaRPr lang="en-US" sz="950" dirty="0"/>
          </a:p>
        </p:txBody>
      </p:sp>
      <p:sp>
        <p:nvSpPr>
          <p:cNvPr id="80" name="Shape 53"/>
          <p:cNvSpPr/>
          <p:nvPr/>
        </p:nvSpPr>
        <p:spPr>
          <a:xfrm>
            <a:off x="818388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54"/>
          <p:cNvSpPr/>
          <p:nvPr/>
        </p:nvSpPr>
        <p:spPr>
          <a:xfrm>
            <a:off x="8183880" y="3657600"/>
            <a:ext cx="36576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2" name="Shape 55"/>
          <p:cNvSpPr/>
          <p:nvPr/>
        </p:nvSpPr>
        <p:spPr>
          <a:xfrm>
            <a:off x="8321040" y="3822192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8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21624" y="3922776"/>
            <a:ext cx="274320" cy="274320"/>
          </a:xfrm>
          <a:prstGeom prst="rect">
            <a:avLst/>
          </a:prstGeom>
        </p:spPr>
      </p:pic>
      <p:sp>
        <p:nvSpPr>
          <p:cNvPr id="84" name="Shape 56"/>
          <p:cNvSpPr/>
          <p:nvPr/>
        </p:nvSpPr>
        <p:spPr>
          <a:xfrm>
            <a:off x="10817352" y="3794760"/>
            <a:ext cx="914400" cy="365760"/>
          </a:xfrm>
          <a:prstGeom prst="rect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85" name="Text 57"/>
          <p:cNvSpPr/>
          <p:nvPr/>
        </p:nvSpPr>
        <p:spPr>
          <a:xfrm>
            <a:off x="10817352" y="3822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86" name="Text 58"/>
          <p:cNvSpPr/>
          <p:nvPr/>
        </p:nvSpPr>
        <p:spPr>
          <a:xfrm>
            <a:off x="88696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Monitoring</a:t>
            </a:r>
            <a:endParaRPr lang="en-US" sz="1250" dirty="0"/>
          </a:p>
        </p:txBody>
      </p:sp>
      <p:pic>
        <p:nvPicPr>
          <p:cNvPr id="8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21040" y="4462272"/>
            <a:ext cx="164592" cy="164592"/>
          </a:xfrm>
          <a:prstGeom prst="rect">
            <a:avLst/>
          </a:prstGeom>
        </p:spPr>
      </p:pic>
      <p:sp>
        <p:nvSpPr>
          <p:cNvPr id="88" name="Text 59"/>
          <p:cNvSpPr/>
          <p:nvPr/>
        </p:nvSpPr>
        <p:spPr>
          <a:xfrm>
            <a:off x="8531352" y="4443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Runbooks (save 65%)</a:t>
            </a:r>
            <a:endParaRPr lang="en-US" sz="950" dirty="0"/>
          </a:p>
        </p:txBody>
      </p:sp>
      <p:pic>
        <p:nvPicPr>
          <p:cNvPr id="8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21040" y="4846320"/>
            <a:ext cx="164592" cy="164592"/>
          </a:xfrm>
          <a:prstGeom prst="rect">
            <a:avLst/>
          </a:prstGeom>
        </p:spPr>
      </p:pic>
      <p:sp>
        <p:nvSpPr>
          <p:cNvPr id="90" name="Text 60"/>
          <p:cNvSpPr/>
          <p:nvPr/>
        </p:nvSpPr>
        <p:spPr>
          <a:xfrm>
            <a:off x="8531352" y="4828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alerts</a:t>
            </a:r>
            <a:endParaRPr lang="en-US" sz="950" dirty="0"/>
          </a:p>
        </p:txBody>
      </p:sp>
      <p:pic>
        <p:nvPicPr>
          <p:cNvPr id="9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21040" y="5230368"/>
            <a:ext cx="164592" cy="164592"/>
          </a:xfrm>
          <a:prstGeom prst="rect">
            <a:avLst/>
          </a:prstGeom>
        </p:spPr>
      </p:pic>
      <p:sp>
        <p:nvSpPr>
          <p:cNvPr id="92" name="Text 61"/>
          <p:cNvSpPr/>
          <p:nvPr/>
        </p:nvSpPr>
        <p:spPr>
          <a:xfrm>
            <a:off x="8531352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cost dashboard</a:t>
            </a:r>
            <a:endParaRPr lang="en-US" sz="950" dirty="0"/>
          </a:p>
        </p:txBody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21040" y="5614416"/>
            <a:ext cx="164592" cy="164592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8531352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optimization sprints</a:t>
            </a:r>
            <a:endParaRPr lang="en-US" sz="950" dirty="0"/>
          </a:p>
        </p:txBody>
      </p:sp>
      <p:sp>
        <p:nvSpPr>
          <p:cNvPr id="95" name="Shape 6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6" name="Text 6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60 – 90 Day Action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2176272"/>
            <a:ext cx="10241280" cy="0"/>
          </a:xfrm>
          <a:prstGeom prst="line">
            <a:avLst/>
          </a:prstGeom>
          <a:noFill/>
          <a:ln w="12700">
            <a:solidFill>
              <a:srgbClr val="1E88E5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2011680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20756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7280" y="2468880"/>
            <a:ext cx="3291840" cy="3840480"/>
          </a:xfrm>
          <a:prstGeom prst="rect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2468880"/>
            <a:ext cx="3291840" cy="658368"/>
          </a:xfrm>
          <a:prstGeom prst="rect">
            <a:avLst/>
          </a:prstGeom>
          <a:solidFill>
            <a:srgbClr val="1E88E5">
              <a:alpha val="80000"/>
            </a:srgbClr>
          </a:solidFill>
          <a:ln w="12700">
            <a:solidFill>
              <a:srgbClr val="1E88E5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250545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3280" y="2542032"/>
            <a:ext cx="9144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10–15%</a:t>
            </a:r>
            <a:endParaRPr lang="en-US" sz="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31012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3291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Azure Cost Management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749040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730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tagging across all resources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18795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orphaned disks, IPs, NICs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62686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46085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Azure Hybrid Benefit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5065776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63040" y="5047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auto-shutdown (dev/test VMs)</a:t>
            </a:r>
            <a:endParaRPr lang="en-US" sz="9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5504688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63040" y="5486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alerts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5577840" y="2011680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2075688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80060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4526280" y="2468880"/>
            <a:ext cx="3291840" cy="3840480"/>
          </a:xfrm>
          <a:prstGeom prst="rect">
            <a:avLst/>
          </a:prstGeom>
          <a:solidFill>
            <a:srgbClr val="1A2F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4526280" y="2468880"/>
            <a:ext cx="3291840" cy="658368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>
                <a:alpha val="80000"/>
              </a:srgbClr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709160" y="250545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6812280" y="2542032"/>
            <a:ext cx="9144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81228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20–30%</a:t>
            </a:r>
            <a:endParaRPr lang="en-US" sz="8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310128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892040" y="3291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top 20 VMs (Advisor)</a:t>
            </a:r>
            <a:endParaRPr lang="en-US" sz="9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3749040"/>
            <a:ext cx="164592" cy="16459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892040" y="3730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1-yr Reserved Instances</a:t>
            </a:r>
            <a:endParaRPr lang="en-US" sz="9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3440" y="4187952"/>
            <a:ext cx="164592" cy="16459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89204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lifecycle policies</a:t>
            </a:r>
            <a:endParaRPr lang="en-US" sz="95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4626864"/>
            <a:ext cx="164592" cy="16459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892040" y="46085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 dev/test SQL databases</a:t>
            </a:r>
            <a:endParaRPr lang="en-US" sz="9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3440" y="5065776"/>
            <a:ext cx="164592" cy="16459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4892040" y="5047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Compute Savings Plans</a:t>
            </a:r>
            <a:endParaRPr lang="en-US" sz="9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3440" y="5504688"/>
            <a:ext cx="164592" cy="164592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4892040" y="5486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reduce idle databases</a:t>
            </a:r>
            <a:endParaRPr lang="en-US" sz="950" dirty="0"/>
          </a:p>
        </p:txBody>
      </p:sp>
      <p:sp>
        <p:nvSpPr>
          <p:cNvPr id="46" name="Shape 30"/>
          <p:cNvSpPr/>
          <p:nvPr/>
        </p:nvSpPr>
        <p:spPr>
          <a:xfrm>
            <a:off x="9006840" y="2011680"/>
            <a:ext cx="329184" cy="32918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70848" y="2075688"/>
            <a:ext cx="201168" cy="201168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822960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49" name="Shape 32"/>
          <p:cNvSpPr/>
          <p:nvPr/>
        </p:nvSpPr>
        <p:spPr>
          <a:xfrm>
            <a:off x="7955280" y="2468880"/>
            <a:ext cx="3291840" cy="3840480"/>
          </a:xfrm>
          <a:prstGeom prst="rect">
            <a:avLst/>
          </a:prstGeom>
          <a:solidFill>
            <a:srgbClr val="1A2F5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0" name="Shape 33"/>
          <p:cNvSpPr/>
          <p:nvPr/>
        </p:nvSpPr>
        <p:spPr>
          <a:xfrm>
            <a:off x="7955280" y="2468880"/>
            <a:ext cx="3291840" cy="658368"/>
          </a:xfrm>
          <a:prstGeom prst="rect">
            <a:avLst/>
          </a:prstGeom>
          <a:solidFill>
            <a:srgbClr val="43A047">
              <a:alpha val="80000"/>
            </a:srgbClr>
          </a:solidFill>
          <a:ln w="12700">
            <a:solidFill>
              <a:srgbClr val="43A047">
                <a:alpha val="80000"/>
              </a:srgbClr>
            </a:solidFill>
            <a:prstDash val="solid"/>
          </a:ln>
        </p:spPr>
      </p:sp>
      <p:sp>
        <p:nvSpPr>
          <p:cNvPr id="51" name="Text 34"/>
          <p:cNvSpPr/>
          <p:nvPr/>
        </p:nvSpPr>
        <p:spPr>
          <a:xfrm>
            <a:off x="8138160" y="250545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52" name="Shape 35"/>
          <p:cNvSpPr/>
          <p:nvPr/>
        </p:nvSpPr>
        <p:spPr>
          <a:xfrm>
            <a:off x="10241280" y="2542032"/>
            <a:ext cx="9144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1024128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35–40%</a:t>
            </a:r>
            <a:endParaRPr lang="en-US" sz="8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2440" y="3310128"/>
            <a:ext cx="164592" cy="164592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8321040" y="3291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FinOps review cadence</a:t>
            </a:r>
            <a:endParaRPr lang="en-US" sz="950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2440" y="3749040"/>
            <a:ext cx="164592" cy="164592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8321040" y="3730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start/stop runbooks</a:t>
            </a:r>
            <a:endParaRPr lang="en-US" sz="950" dirty="0"/>
          </a:p>
        </p:txBody>
      </p:sp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2440" y="4187952"/>
            <a:ext cx="164592" cy="164592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832104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950" dirty="0"/>
          </a:p>
        </p:txBody>
      </p:sp>
      <p:pic>
        <p:nvPicPr>
          <p:cNvPr id="6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2440" y="4626864"/>
            <a:ext cx="164592" cy="164592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8321040" y="46085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SKUs via Azure Policy</a:t>
            </a:r>
            <a:endParaRPr lang="en-US" sz="950" dirty="0"/>
          </a:p>
        </p:txBody>
      </p:sp>
      <p:pic>
        <p:nvPicPr>
          <p:cNvPr id="6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2440" y="5065776"/>
            <a:ext cx="164592" cy="164592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8321040" y="5047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expand RI coverage</a:t>
            </a:r>
            <a:endParaRPr lang="en-US" sz="950" dirty="0"/>
          </a:p>
        </p:txBody>
      </p:sp>
      <p:pic>
        <p:nvPicPr>
          <p:cNvPr id="6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92440" y="5504688"/>
            <a:ext cx="164592" cy="164592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8321040" y="5486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fine-tuning</a:t>
            </a:r>
            <a:endParaRPr lang="en-US" sz="950" dirty="0"/>
          </a:p>
        </p:txBody>
      </p:sp>
      <p:sp>
        <p:nvSpPr>
          <p:cNvPr id="66" name="Shape 4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67" name="Text 4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SAVINGS BREAKDOWN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14300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28016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0" y="1280160"/>
            <a:ext cx="73152" cy="14630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52360" y="1627632"/>
            <a:ext cx="640080" cy="6400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17373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0" y="14630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229600" y="20848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Savings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0" y="301752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0" y="3017520"/>
            <a:ext cx="73152" cy="1463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52360" y="3364992"/>
            <a:ext cx="640080" cy="6400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347472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200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229600" y="38221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Savings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15200" y="475488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0" y="4754880"/>
            <a:ext cx="73152" cy="1463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52360" y="5102352"/>
            <a:ext cx="640080" cy="6400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521208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0" y="4937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8229600" y="55595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ROI on engagement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11480" y="640080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Savings estimates based on industry benchmarks. Actual results depend on current environment audit.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11480" y="6556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Our Commitment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379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373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Assessment Report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2359152"/>
            <a:ext cx="3108960" cy="0"/>
          </a:xfrm>
          <a:prstGeom prst="line">
            <a:avLst/>
          </a:prstGeom>
          <a:noFill/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of your Azure environment — every idle resource, every RI opportunity, and top 10 cost killers identified.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0" y="155448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73736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8379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7373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Cost Dashboard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359152"/>
            <a:ext cx="3108960" cy="0"/>
          </a:xfrm>
          <a:prstGeom prst="line">
            <a:avLst/>
          </a:prstGeom>
          <a:noFill/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drill-down dashboard showing costs by service, resource group, team, and environment — updated daily.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818120" y="155448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01000" y="1737360"/>
            <a:ext cx="502920" cy="5029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83794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41080" y="17373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Scripts &amp; Runbooks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01000" y="2359152"/>
            <a:ext cx="3108960" cy="0"/>
          </a:xfrm>
          <a:prstGeom prst="line">
            <a:avLst/>
          </a:prstGeom>
          <a:noFill/>
          <a:ln w="12700">
            <a:solidFill>
              <a:srgbClr val="F9A825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+ Azure CLI scripts for auto-shutdown, orphan cleanup, tagging, and lifecycle management. Fully documented.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11480" y="388620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4069080"/>
            <a:ext cx="502920" cy="5029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16966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4069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&amp; Policy Framework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94360" y="4690872"/>
            <a:ext cx="3108960" cy="0"/>
          </a:xfrm>
          <a:prstGeom prst="line">
            <a:avLst/>
          </a:prstGeom>
          <a:noFill/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4360" y="4800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tag schema enforced by Azure Policy — with chargeback reports so every team owns their spend.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114800" y="388620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97680" y="4069080"/>
            <a:ext cx="502920" cy="50292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416966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37760" y="4069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&amp; Savings Plan Strategy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297680" y="4690872"/>
            <a:ext cx="3108960" cy="0"/>
          </a:xfrm>
          <a:prstGeom prst="line">
            <a:avLst/>
          </a:prstGeom>
          <a:noFill/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297680" y="4800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recommendation on which workloads to reserve and at what term — maximizing discount without risk.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7818120" y="388620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001000" y="4069080"/>
            <a:ext cx="502920" cy="5029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4169664"/>
            <a:ext cx="301752" cy="3017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641080" y="4069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FinOps Reviews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8001000" y="4690872"/>
            <a:ext cx="3108960" cy="0"/>
          </a:xfrm>
          <a:prstGeom prst="line">
            <a:avLst/>
          </a:prstGeom>
          <a:noFill/>
          <a:ln w="12700">
            <a:solidFill>
              <a:srgbClr val="F9A825">
                <a:alpha val="40000"/>
              </a:srgbClr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001000" y="4800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monthly review sessions to track savings, identify new opportunities, and keep costs trending down.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6217920" cy="685800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3488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3488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3488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3488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3296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33104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3104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3104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33104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33104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33104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33104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33104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33104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82912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82912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82912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82912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82912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82912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82912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82912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82912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2720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32720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32720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32720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2720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32720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32720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32720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332720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82528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82528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82528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82528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82528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82528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82528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082528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082528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8229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11480" y="12344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saving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Azure budget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today.</a:t>
            </a:r>
            <a:endParaRPr lang="en-US" sz="3400" dirty="0"/>
          </a:p>
        </p:txBody>
      </p:sp>
      <p:sp>
        <p:nvSpPr>
          <p:cNvPr id="69" name="Text 67"/>
          <p:cNvSpPr/>
          <p:nvPr/>
        </p:nvSpPr>
        <p:spPr>
          <a:xfrm>
            <a:off x="411480" y="3291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cost. No disruption.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measurable, sustainable savings.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11480" y="416052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1696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4400" y="4215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 discovery call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411480" y="466344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46725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914400" y="47183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a free 1-week cost assessment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411480" y="516636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1755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914400" y="52212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detailed savings roadmap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11480" y="566928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1480" y="56784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914400" y="57241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 execution — you start saving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6492240" y="1097280"/>
            <a:ext cx="5303520" cy="5120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66751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863840" y="1965960"/>
            <a:ext cx="2651760" cy="54864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21040" y="2194560"/>
            <a:ext cx="1737360" cy="1737360"/>
          </a:xfrm>
          <a:prstGeom prst="ellipse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2505456"/>
            <a:ext cx="1097280" cy="1097280"/>
          </a:xfrm>
          <a:prstGeom prst="rect">
            <a:avLst/>
          </a:prstGeom>
        </p:spPr>
      </p:pic>
      <p:sp>
        <p:nvSpPr>
          <p:cNvPr id="87" name="Text 84"/>
          <p:cNvSpPr/>
          <p:nvPr/>
        </p:nvSpPr>
        <p:spPr>
          <a:xfrm>
            <a:off x="6675120" y="4114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FinOps Practice</a:t>
            </a:r>
            <a:endParaRPr lang="en-US" sz="1400" dirty="0"/>
          </a:p>
        </p:txBody>
      </p:sp>
      <p:sp>
        <p:nvSpPr>
          <p:cNvPr id="88" name="Text 85"/>
          <p:cNvSpPr/>
          <p:nvPr/>
        </p:nvSpPr>
        <p:spPr>
          <a:xfrm>
            <a:off x="6675120" y="44805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Specialists</a:t>
            </a: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667512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finops@yourcompany.com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6675120" y="52212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+91 79 XXXX XXXX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6675120" y="55504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www.yourcompany.com/azure-finops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Azure Cost Optimization Proposal  |  ©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Cost Optimization Proposal</dc:title>
  <dc:subject>PptxGenJS Presentation</dc:subject>
  <dc:creator>Cloud FinOps Team</dc:creator>
  <cp:lastModifiedBy>Cloud FinOps Team</cp:lastModifiedBy>
  <cp:revision>1</cp:revision>
  <dcterms:created xsi:type="dcterms:W3CDTF">2026-03-12T10:44:15Z</dcterms:created>
  <dcterms:modified xsi:type="dcterms:W3CDTF">2026-03-12T10:44:15Z</dcterms:modified>
</cp:coreProperties>
</file>
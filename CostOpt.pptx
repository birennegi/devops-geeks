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-3304" y="-15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Savings %</c:v>
                </c:pt>
              </c:strCache>
            </c:strRef>
          </c:tx>
          <c:spPr>
            <a:solidFill>
              <a:srgbClr val="1E88E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E7C-41B9-815E-6920DD3150C6}"/>
              </c:ext>
            </c:extLst>
          </c:dPt>
          <c:dPt>
            <c:idx val="1"/>
            <c:invertIfNegative val="0"/>
            <c:bubble3D val="0"/>
            <c:spPr>
              <a:solidFill>
                <a:srgbClr val="00897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E7C-41B9-815E-6920DD3150C6}"/>
              </c:ext>
            </c:extLst>
          </c:dPt>
          <c:dPt>
            <c:idx val="2"/>
            <c:invertIfNegative val="0"/>
            <c:bubble3D val="0"/>
            <c:spPr>
              <a:solidFill>
                <a:srgbClr val="43A04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E7C-41B9-815E-6920DD3150C6}"/>
              </c:ext>
            </c:extLst>
          </c:dPt>
          <c:dPt>
            <c:idx val="3"/>
            <c:invertIfNegative val="0"/>
            <c:bubble3D val="0"/>
            <c:spPr>
              <a:solidFill>
                <a:srgbClr val="F9A82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E7C-41B9-815E-6920DD3150C6}"/>
              </c:ext>
            </c:extLst>
          </c:dPt>
          <c:dPt>
            <c:idx val="4"/>
            <c:invertIfNegative val="0"/>
            <c:bubble3D val="0"/>
            <c:spPr>
              <a:solidFill>
                <a:srgbClr val="42A5F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E7C-41B9-815E-6920DD3150C6}"/>
              </c:ext>
            </c:extLst>
          </c:dPt>
          <c:dPt>
            <c:idx val="5"/>
            <c:invertIfNegative val="0"/>
            <c:bubble3D val="0"/>
            <c:spPr>
              <a:solidFill>
                <a:srgbClr val="0D1B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7E7C-41B9-815E-6920DD3150C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Idle VMs</c:v>
                </c:pt>
                <c:pt idx="1">
                  <c:v>Reserved Instances</c:v>
                </c:pt>
                <c:pt idx="2">
                  <c:v>Hybrid Benefit</c:v>
                </c:pt>
                <c:pt idx="3">
                  <c:v>Storage Tiers</c:v>
                </c:pt>
                <c:pt idx="4">
                  <c:v>Orphaned Resources</c:v>
                </c:pt>
                <c:pt idx="5">
                  <c:v>Dev/Test Shutdown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</c:v>
                </c:pt>
                <c:pt idx="1">
                  <c:v>40</c:v>
                </c:pt>
                <c:pt idx="2">
                  <c:v>30</c:v>
                </c:pt>
                <c:pt idx="3">
                  <c:v>18</c:v>
                </c:pt>
                <c:pt idx="4">
                  <c:v>8</c:v>
                </c:pt>
                <c:pt idx="5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7E7C-41B9-815E-6920DD3150C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402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10.pn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8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4389120" cy="6858000"/>
          </a:xfrm>
          <a:prstGeom prst="rect">
            <a:avLst/>
          </a:prstGeom>
          <a:solidFill>
            <a:srgbClr val="1A2F5C"/>
          </a:solidFill>
          <a:ln w="12700">
            <a:solidFill>
              <a:srgbClr val="1A2F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0"/>
            <a:ext cx="3566160" cy="6858000"/>
          </a:xfrm>
          <a:prstGeom prst="rect">
            <a:avLst/>
          </a:prstGeom>
          <a:solidFill>
            <a:srgbClr val="1565C0">
              <a:alpha val="20000"/>
            </a:srgbClr>
          </a:solidFill>
          <a:ln w="12700">
            <a:solidFill>
              <a:srgbClr val="1565C0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0" y="36576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0" y="114300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192024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0" y="269748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78240" y="347472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0" y="425196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0" y="502920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78240" y="580644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326880" y="36576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326880" y="114300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26880" y="192024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26880" y="269748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26880" y="347472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26880" y="425196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26880" y="502920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26880" y="580644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75520" y="36576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875520" y="114300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875520" y="192024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875520" y="269748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75520" y="347472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875520" y="425196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875520" y="502920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875520" y="580644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424160" y="36576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424160" y="114300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424160" y="192024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424160" y="269748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424160" y="347472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424160" y="425196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424160" y="502920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424160" y="580644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972800" y="36576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972800" y="114300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972800" y="192024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972800" y="269748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972800" y="347472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972800" y="425196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972800" y="502920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972800" y="580644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521440" y="36576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521440" y="114300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1521440" y="192024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1521440" y="269748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521440" y="347472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1521440" y="425196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1521440" y="502920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1521440" y="5806440"/>
            <a:ext cx="54864" cy="54864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326880" y="1280160"/>
            <a:ext cx="2011680" cy="2011680"/>
          </a:xfrm>
          <a:prstGeom prst="ellipse">
            <a:avLst/>
          </a:prstGeom>
          <a:solidFill>
            <a:srgbClr val="1E88E5">
              <a:alpha val="15000"/>
            </a:srgbClr>
          </a:solidFill>
          <a:ln w="12700">
            <a:solidFill>
              <a:srgbClr val="1E88E5">
                <a:alpha val="15000"/>
              </a:srgbClr>
            </a:solidFill>
            <a:prstDash val="solid"/>
          </a:ln>
        </p:spPr>
      </p:sp>
      <p:pic>
        <p:nvPicPr>
          <p:cNvPr id="5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1600200"/>
            <a:ext cx="1005840" cy="1005840"/>
          </a:xfrm>
          <a:prstGeom prst="rect">
            <a:avLst/>
          </a:prstGeom>
        </p:spPr>
      </p:pic>
      <p:sp>
        <p:nvSpPr>
          <p:cNvPr id="55" name="Text 52"/>
          <p:cNvSpPr/>
          <p:nvPr/>
        </p:nvSpPr>
        <p:spPr>
          <a:xfrm>
            <a:off x="411480" y="8229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</a:t>
            </a:r>
            <a:endParaRPr lang="en-US" sz="1100" dirty="0"/>
          </a:p>
        </p:txBody>
      </p:sp>
      <p:sp>
        <p:nvSpPr>
          <p:cNvPr id="56" name="Text 53"/>
          <p:cNvSpPr/>
          <p:nvPr/>
        </p:nvSpPr>
        <p:spPr>
          <a:xfrm>
            <a:off x="411480" y="1234440"/>
            <a:ext cx="7315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Cloud</a:t>
            </a:r>
            <a:endParaRPr lang="en-US" sz="4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Optimization</a:t>
            </a:r>
            <a:endParaRPr lang="en-US" sz="4400" dirty="0"/>
          </a:p>
        </p:txBody>
      </p:sp>
      <p:sp>
        <p:nvSpPr>
          <p:cNvPr id="57" name="Text 54"/>
          <p:cNvSpPr/>
          <p:nvPr/>
        </p:nvSpPr>
        <p:spPr>
          <a:xfrm>
            <a:off x="411480" y="324612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will reduce your Azure spend by up to 40%</a:t>
            </a:r>
            <a:endParaRPr lang="en-US" sz="1500" dirty="0"/>
          </a:p>
          <a:p>
            <a:pPr marL="0" indent="0">
              <a:buNone/>
            </a:pPr>
            <a:r>
              <a:rPr lang="en-US" sz="1500" i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proven, risk-free approach</a:t>
            </a:r>
            <a:endParaRPr lang="en-US" sz="1500" dirty="0"/>
          </a:p>
        </p:txBody>
      </p:sp>
      <p:sp>
        <p:nvSpPr>
          <p:cNvPr id="58" name="Shape 55"/>
          <p:cNvSpPr/>
          <p:nvPr/>
        </p:nvSpPr>
        <p:spPr>
          <a:xfrm>
            <a:off x="411480" y="4480560"/>
            <a:ext cx="2194560" cy="804672"/>
          </a:xfrm>
          <a:prstGeom prst="rect">
            <a:avLst/>
          </a:prstGeom>
          <a:solidFill>
            <a:srgbClr val="1E88E5">
              <a:alpha val="25000"/>
            </a:srgbClr>
          </a:solidFill>
          <a:ln w="12700">
            <a:solidFill>
              <a:srgbClr val="1E88E5">
                <a:alpha val="50000"/>
              </a:srgbClr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411480" y="4517136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25–40%</a:t>
            </a:r>
            <a:endParaRPr lang="en-US" sz="2000" dirty="0"/>
          </a:p>
        </p:txBody>
      </p:sp>
      <p:sp>
        <p:nvSpPr>
          <p:cNvPr id="60" name="Text 57"/>
          <p:cNvSpPr/>
          <p:nvPr/>
        </p:nvSpPr>
        <p:spPr>
          <a:xfrm>
            <a:off x="411480" y="488289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Savings</a:t>
            </a:r>
            <a:endParaRPr lang="en-US" sz="900" dirty="0"/>
          </a:p>
        </p:txBody>
      </p:sp>
      <p:sp>
        <p:nvSpPr>
          <p:cNvPr id="61" name="Shape 58"/>
          <p:cNvSpPr/>
          <p:nvPr/>
        </p:nvSpPr>
        <p:spPr>
          <a:xfrm>
            <a:off x="2880360" y="4480560"/>
            <a:ext cx="2194560" cy="804672"/>
          </a:xfrm>
          <a:prstGeom prst="rect">
            <a:avLst/>
          </a:prstGeom>
          <a:solidFill>
            <a:srgbClr val="1E88E5">
              <a:alpha val="25000"/>
            </a:srgbClr>
          </a:solidFill>
          <a:ln w="12700">
            <a:solidFill>
              <a:srgbClr val="1E88E5">
                <a:alpha val="50000"/>
              </a:srgbClr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2880360" y="4517136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2000" dirty="0"/>
          </a:p>
        </p:txBody>
      </p:sp>
      <p:sp>
        <p:nvSpPr>
          <p:cNvPr id="63" name="Text 60"/>
          <p:cNvSpPr/>
          <p:nvPr/>
        </p:nvSpPr>
        <p:spPr>
          <a:xfrm>
            <a:off x="2880360" y="488289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Period</a:t>
            </a:r>
            <a:endParaRPr lang="en-US" sz="900" dirty="0"/>
          </a:p>
        </p:txBody>
      </p:sp>
      <p:sp>
        <p:nvSpPr>
          <p:cNvPr id="64" name="Shape 61"/>
          <p:cNvSpPr/>
          <p:nvPr/>
        </p:nvSpPr>
        <p:spPr>
          <a:xfrm>
            <a:off x="5349240" y="4480560"/>
            <a:ext cx="2194560" cy="804672"/>
          </a:xfrm>
          <a:prstGeom prst="rect">
            <a:avLst/>
          </a:prstGeom>
          <a:solidFill>
            <a:srgbClr val="1E88E5">
              <a:alpha val="25000"/>
            </a:srgbClr>
          </a:solidFill>
          <a:ln w="12700">
            <a:solidFill>
              <a:srgbClr val="1E88E5">
                <a:alpha val="50000"/>
              </a:srgbClr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5349240" y="4517136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2000" dirty="0"/>
          </a:p>
        </p:txBody>
      </p:sp>
      <p:sp>
        <p:nvSpPr>
          <p:cNvPr id="66" name="Text 63"/>
          <p:cNvSpPr/>
          <p:nvPr/>
        </p:nvSpPr>
        <p:spPr>
          <a:xfrm>
            <a:off x="5349240" y="488289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Level</a:t>
            </a:r>
            <a:endParaRPr lang="en-US" sz="900" dirty="0"/>
          </a:p>
        </p:txBody>
      </p:sp>
      <p:sp>
        <p:nvSpPr>
          <p:cNvPr id="67" name="Shape 64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A2F5C"/>
          </a:solidFill>
          <a:ln w="12700">
            <a:solidFill>
              <a:srgbClr val="1A2F5C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411480" y="6528816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Azure FinOps Practice  |  March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AZURE COSTS SPIRAL OUT OF CONTROL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114300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structured cost governance program, most organizations overpay by 30–50% every month.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691640"/>
            <a:ext cx="3657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691640"/>
            <a:ext cx="502920" cy="19202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2331720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33272" y="18745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&amp; Oversized VMs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33272" y="228600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VMs running at &lt; 5% CPU 24/7. Dev servers left on over weekends.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297680" y="1691640"/>
            <a:ext cx="3657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97680" y="1691640"/>
            <a:ext cx="502920" cy="1920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7408" y="2331720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919472" y="18745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Orphaned Resources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919472" y="228600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Unused disks, stale snapshots, unattached public IPs accumulating costs.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183880" y="1691640"/>
            <a:ext cx="3657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183880" y="1691640"/>
            <a:ext cx="502920" cy="19202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3608" y="2331720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805672" y="18745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Tagging Strategy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8805672" y="228600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cost attribution. Nobody owns costs. Budgets are impossible to set.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11480" y="3840480"/>
            <a:ext cx="3657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11480" y="3840480"/>
            <a:ext cx="502920" cy="192024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208" y="4480560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33272" y="40233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Pay-As-You-Go Only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033272" y="443484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Reserved Instances or Savings Plans — paying full rack rate.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4297680" y="3840480"/>
            <a:ext cx="3657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297680" y="3840480"/>
            <a:ext cx="502920" cy="1920240"/>
          </a:xfrm>
          <a:prstGeom prst="rect">
            <a:avLst/>
          </a:prstGeom>
          <a:solidFill>
            <a:srgbClr val="1A2F5C"/>
          </a:solidFill>
          <a:ln w="12700">
            <a:solidFill>
              <a:srgbClr val="1A2F5C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07408" y="4480560"/>
            <a:ext cx="292608" cy="29260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919472" y="40233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Uncontrolled Egress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4919472" y="443484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Cross-region data transfer and unoptimized CDN driving hidden charges.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8183880" y="3840480"/>
            <a:ext cx="3657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183880" y="3840480"/>
            <a:ext cx="502920" cy="192024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93608" y="4480560"/>
            <a:ext cx="292608" cy="29260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805672" y="40233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Automation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8805672" y="443484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processes mean waste is discovered months late, if at all.</a:t>
            </a:r>
            <a:endParaRPr lang="en-US" sz="1050" dirty="0"/>
          </a:p>
        </p:txBody>
      </p:sp>
      <p:sp>
        <p:nvSpPr>
          <p:cNvPr id="36" name="Shape 28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411480" y="653796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COST OPTIMIZATION PROPOSAL  | 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4-Phase Continuous Cost Optimization Model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508760"/>
            <a:ext cx="2651760" cy="4983480"/>
          </a:xfrm>
          <a:prstGeom prst="rect">
            <a:avLst/>
          </a:prstGeom>
          <a:solidFill>
            <a:srgbClr val="1A2F5C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508760"/>
            <a:ext cx="2651760" cy="7315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36192"/>
            <a:ext cx="777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1709928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23317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02920" y="26974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&amp; Discovery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85800" y="3108960"/>
            <a:ext cx="2103120" cy="0"/>
          </a:xfrm>
          <a:prstGeom prst="line">
            <a:avLst/>
          </a:prstGeom>
          <a:noFill/>
          <a:ln w="12700">
            <a:solidFill>
              <a:srgbClr val="1E88E5">
                <a:alpha val="5000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246120"/>
            <a:ext cx="182880" cy="182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95528" y="3218688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Azure Cost Management</a:t>
            </a:r>
            <a:endParaRPr lang="en-US" sz="9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840480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95528" y="3813048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all resources</a:t>
            </a:r>
            <a:endParaRPr lang="en-US" sz="9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434840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95528" y="4407408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top 10 cost drivers</a:t>
            </a:r>
            <a:endParaRPr lang="en-US" sz="9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029200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95528" y="5001768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billing to storage</a:t>
            </a:r>
            <a:endParaRPr lang="en-US" sz="95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8104" y="3794760"/>
            <a:ext cx="182880" cy="182880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3319272" y="1508760"/>
            <a:ext cx="2651760" cy="4983480"/>
          </a:xfrm>
          <a:prstGeom prst="rect">
            <a:avLst/>
          </a:prstGeom>
          <a:solidFill>
            <a:srgbClr val="1A2F5C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2" name="Shape 14"/>
          <p:cNvSpPr/>
          <p:nvPr/>
        </p:nvSpPr>
        <p:spPr>
          <a:xfrm>
            <a:off x="3319272" y="1508760"/>
            <a:ext cx="2651760" cy="7315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3319272" y="1536192"/>
            <a:ext cx="777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2392" y="1709928"/>
            <a:ext cx="347472" cy="34747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3410712" y="23317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</a:t>
            </a:r>
            <a:endParaRPr lang="en-US" sz="1600" dirty="0"/>
          </a:p>
        </p:txBody>
      </p:sp>
      <p:sp>
        <p:nvSpPr>
          <p:cNvPr id="26" name="Text 17"/>
          <p:cNvSpPr/>
          <p:nvPr/>
        </p:nvSpPr>
        <p:spPr>
          <a:xfrm>
            <a:off x="3410712" y="26974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Waste</a:t>
            </a:r>
            <a:endParaRPr lang="en-US" sz="950" dirty="0"/>
          </a:p>
        </p:txBody>
      </p:sp>
      <p:sp>
        <p:nvSpPr>
          <p:cNvPr id="27" name="Shape 18"/>
          <p:cNvSpPr/>
          <p:nvPr/>
        </p:nvSpPr>
        <p:spPr>
          <a:xfrm>
            <a:off x="3593592" y="3108960"/>
            <a:ext cx="2103120" cy="0"/>
          </a:xfrm>
          <a:prstGeom prst="line">
            <a:avLst/>
          </a:prstGeom>
          <a:noFill/>
          <a:ln w="12700">
            <a:solidFill>
              <a:srgbClr val="00897B">
                <a:alpha val="50000"/>
              </a:srgbClr>
            </a:solidFill>
            <a:prstDash val="solid"/>
          </a:ln>
        </p:spPr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6432" y="3246120"/>
            <a:ext cx="182880" cy="18288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3703320" y="3218688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orphaned resources</a:t>
            </a:r>
            <a:endParaRPr lang="en-US" sz="950" dirty="0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6432" y="3840480"/>
            <a:ext cx="182880" cy="18288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3703320" y="3813048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idle VMs</a:t>
            </a:r>
            <a:endParaRPr lang="en-US" sz="950" dirty="0"/>
          </a:p>
        </p:txBody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6432" y="4434840"/>
            <a:ext cx="182880" cy="182880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3703320" y="4407408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Hybrid Benefit</a:t>
            </a:r>
            <a:endParaRPr lang="en-US" sz="950" dirty="0"/>
          </a:p>
        </p:txBody>
      </p:sp>
      <p:pic>
        <p:nvPicPr>
          <p:cNvPr id="34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6432" y="5029200"/>
            <a:ext cx="182880" cy="182880"/>
          </a:xfrm>
          <a:prstGeom prst="rect">
            <a:avLst/>
          </a:prstGeom>
        </p:spPr>
      </p:pic>
      <p:sp>
        <p:nvSpPr>
          <p:cNvPr id="35" name="Text 22"/>
          <p:cNvSpPr/>
          <p:nvPr/>
        </p:nvSpPr>
        <p:spPr>
          <a:xfrm>
            <a:off x="3703320" y="5001768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Auto-shutdown dev/test</a:t>
            </a:r>
            <a:endParaRPr lang="en-US" sz="950" dirty="0"/>
          </a:p>
        </p:txBody>
      </p:sp>
      <p:pic>
        <p:nvPicPr>
          <p:cNvPr id="36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5896" y="3794760"/>
            <a:ext cx="182880" cy="182880"/>
          </a:xfrm>
          <a:prstGeom prst="rect">
            <a:avLst/>
          </a:prstGeom>
        </p:spPr>
      </p:pic>
      <p:sp>
        <p:nvSpPr>
          <p:cNvPr id="37" name="Shape 23"/>
          <p:cNvSpPr/>
          <p:nvPr/>
        </p:nvSpPr>
        <p:spPr>
          <a:xfrm>
            <a:off x="6227064" y="1508760"/>
            <a:ext cx="2651760" cy="4983480"/>
          </a:xfrm>
          <a:prstGeom prst="rect">
            <a:avLst/>
          </a:prstGeom>
          <a:solidFill>
            <a:srgbClr val="1A2F5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8" name="Shape 24"/>
          <p:cNvSpPr/>
          <p:nvPr/>
        </p:nvSpPr>
        <p:spPr>
          <a:xfrm>
            <a:off x="6227064" y="1508760"/>
            <a:ext cx="2651760" cy="73152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9" name="Text 25"/>
          <p:cNvSpPr/>
          <p:nvPr/>
        </p:nvSpPr>
        <p:spPr>
          <a:xfrm>
            <a:off x="6227064" y="1536192"/>
            <a:ext cx="777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pic>
        <p:nvPicPr>
          <p:cNvPr id="40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0184" y="1709928"/>
            <a:ext cx="347472" cy="347472"/>
          </a:xfrm>
          <a:prstGeom prst="rect">
            <a:avLst/>
          </a:prstGeom>
        </p:spPr>
      </p:pic>
      <p:sp>
        <p:nvSpPr>
          <p:cNvPr id="41" name="Text 26"/>
          <p:cNvSpPr/>
          <p:nvPr/>
        </p:nvSpPr>
        <p:spPr>
          <a:xfrm>
            <a:off x="6318504" y="23317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1600" dirty="0"/>
          </a:p>
        </p:txBody>
      </p:sp>
      <p:sp>
        <p:nvSpPr>
          <p:cNvPr id="42" name="Text 27"/>
          <p:cNvSpPr/>
          <p:nvPr/>
        </p:nvSpPr>
        <p:spPr>
          <a:xfrm>
            <a:off x="6318504" y="26974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Rightsize &amp; Commit</a:t>
            </a:r>
            <a:endParaRPr lang="en-US" sz="950" dirty="0"/>
          </a:p>
        </p:txBody>
      </p:sp>
      <p:sp>
        <p:nvSpPr>
          <p:cNvPr id="43" name="Shape 28"/>
          <p:cNvSpPr/>
          <p:nvPr/>
        </p:nvSpPr>
        <p:spPr>
          <a:xfrm>
            <a:off x="6501384" y="3108960"/>
            <a:ext cx="2103120" cy="0"/>
          </a:xfrm>
          <a:prstGeom prst="line">
            <a:avLst/>
          </a:prstGeom>
          <a:noFill/>
          <a:ln w="12700">
            <a:solidFill>
              <a:srgbClr val="F9A825">
                <a:alpha val="50000"/>
              </a:srgbClr>
            </a:solidFill>
            <a:prstDash val="solid"/>
          </a:ln>
        </p:spPr>
      </p:sp>
      <p:pic>
        <p:nvPicPr>
          <p:cNvPr id="44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3246120"/>
            <a:ext cx="182880" cy="182880"/>
          </a:xfrm>
          <a:prstGeom prst="rect">
            <a:avLst/>
          </a:prstGeom>
        </p:spPr>
      </p:pic>
      <p:sp>
        <p:nvSpPr>
          <p:cNvPr id="45" name="Text 29"/>
          <p:cNvSpPr/>
          <p:nvPr/>
        </p:nvSpPr>
        <p:spPr>
          <a:xfrm>
            <a:off x="6611112" y="3218688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rightsizing (Advisor)</a:t>
            </a:r>
            <a:endParaRPr lang="en-US" sz="950" dirty="0"/>
          </a:p>
        </p:txBody>
      </p:sp>
      <p:pic>
        <p:nvPicPr>
          <p:cNvPr id="46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3840480"/>
            <a:ext cx="182880" cy="182880"/>
          </a:xfrm>
          <a:prstGeom prst="rect">
            <a:avLst/>
          </a:prstGeom>
        </p:spPr>
      </p:pic>
      <p:sp>
        <p:nvSpPr>
          <p:cNvPr id="47" name="Text 30"/>
          <p:cNvSpPr/>
          <p:nvPr/>
        </p:nvSpPr>
        <p:spPr>
          <a:xfrm>
            <a:off x="6611112" y="3813048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Reserved Instances</a:t>
            </a:r>
            <a:endParaRPr lang="en-US" sz="950" dirty="0"/>
          </a:p>
        </p:txBody>
      </p:sp>
      <p:pic>
        <p:nvPicPr>
          <p:cNvPr id="48" name="Image 1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4434840"/>
            <a:ext cx="182880" cy="182880"/>
          </a:xfrm>
          <a:prstGeom prst="rect">
            <a:avLst/>
          </a:prstGeom>
        </p:spPr>
      </p:pic>
      <p:sp>
        <p:nvSpPr>
          <p:cNvPr id="49" name="Text 31"/>
          <p:cNvSpPr/>
          <p:nvPr/>
        </p:nvSpPr>
        <p:spPr>
          <a:xfrm>
            <a:off x="6611112" y="4407408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Plans strategy</a:t>
            </a:r>
            <a:endParaRPr lang="en-US" sz="950" dirty="0"/>
          </a:p>
        </p:txBody>
      </p:sp>
      <p:pic>
        <p:nvPicPr>
          <p:cNvPr id="50" name="Image 1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5029200"/>
            <a:ext cx="182880" cy="182880"/>
          </a:xfrm>
          <a:prstGeom prst="rect">
            <a:avLst/>
          </a:prstGeom>
        </p:spPr>
      </p:pic>
      <p:sp>
        <p:nvSpPr>
          <p:cNvPr id="51" name="Text 32"/>
          <p:cNvSpPr/>
          <p:nvPr/>
        </p:nvSpPr>
        <p:spPr>
          <a:xfrm>
            <a:off x="6611112" y="5001768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tier automation</a:t>
            </a:r>
            <a:endParaRPr lang="en-US" sz="950" dirty="0"/>
          </a:p>
        </p:txBody>
      </p:sp>
      <p:pic>
        <p:nvPicPr>
          <p:cNvPr id="52" name="Image 1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3688" y="3794760"/>
            <a:ext cx="182880" cy="182880"/>
          </a:xfrm>
          <a:prstGeom prst="rect">
            <a:avLst/>
          </a:prstGeom>
        </p:spPr>
      </p:pic>
      <p:sp>
        <p:nvSpPr>
          <p:cNvPr id="53" name="Shape 33"/>
          <p:cNvSpPr/>
          <p:nvPr/>
        </p:nvSpPr>
        <p:spPr>
          <a:xfrm>
            <a:off x="9134856" y="1508760"/>
            <a:ext cx="2651760" cy="4983480"/>
          </a:xfrm>
          <a:prstGeom prst="rect">
            <a:avLst/>
          </a:prstGeom>
          <a:solidFill>
            <a:srgbClr val="1A2F5C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54" name="Shape 34"/>
          <p:cNvSpPr/>
          <p:nvPr/>
        </p:nvSpPr>
        <p:spPr>
          <a:xfrm>
            <a:off x="9134856" y="1508760"/>
            <a:ext cx="2651760" cy="7315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55" name="Text 35"/>
          <p:cNvSpPr/>
          <p:nvPr/>
        </p:nvSpPr>
        <p:spPr>
          <a:xfrm>
            <a:off x="9134856" y="1536192"/>
            <a:ext cx="777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pic>
        <p:nvPicPr>
          <p:cNvPr id="56" name="Image 1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37976" y="1709928"/>
            <a:ext cx="347472" cy="347472"/>
          </a:xfrm>
          <a:prstGeom prst="rect">
            <a:avLst/>
          </a:prstGeom>
        </p:spPr>
      </p:pic>
      <p:sp>
        <p:nvSpPr>
          <p:cNvPr id="57" name="Text 36"/>
          <p:cNvSpPr/>
          <p:nvPr/>
        </p:nvSpPr>
        <p:spPr>
          <a:xfrm>
            <a:off x="9226296" y="23317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</a:t>
            </a:r>
            <a:endParaRPr lang="en-US" sz="1600" dirty="0"/>
          </a:p>
        </p:txBody>
      </p:sp>
      <p:sp>
        <p:nvSpPr>
          <p:cNvPr id="58" name="Text 37"/>
          <p:cNvSpPr/>
          <p:nvPr/>
        </p:nvSpPr>
        <p:spPr>
          <a:xfrm>
            <a:off x="9226296" y="26974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&amp; Monitor</a:t>
            </a:r>
            <a:endParaRPr lang="en-US" sz="950" dirty="0"/>
          </a:p>
        </p:txBody>
      </p:sp>
      <p:sp>
        <p:nvSpPr>
          <p:cNvPr id="59" name="Shape 38"/>
          <p:cNvSpPr/>
          <p:nvPr/>
        </p:nvSpPr>
        <p:spPr>
          <a:xfrm>
            <a:off x="9409176" y="3108960"/>
            <a:ext cx="2103120" cy="0"/>
          </a:xfrm>
          <a:prstGeom prst="line">
            <a:avLst/>
          </a:prstGeom>
          <a:noFill/>
          <a:ln w="12700">
            <a:solidFill>
              <a:srgbClr val="43A047">
                <a:alpha val="50000"/>
              </a:srgbClr>
            </a:solidFill>
            <a:prstDash val="solid"/>
          </a:ln>
        </p:spPr>
      </p:sp>
      <p:pic>
        <p:nvPicPr>
          <p:cNvPr id="60" name="Image 1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2016" y="3246120"/>
            <a:ext cx="182880" cy="182880"/>
          </a:xfrm>
          <a:prstGeom prst="rect">
            <a:avLst/>
          </a:prstGeom>
        </p:spPr>
      </p:pic>
      <p:sp>
        <p:nvSpPr>
          <p:cNvPr id="61" name="Text 39"/>
          <p:cNvSpPr/>
          <p:nvPr/>
        </p:nvSpPr>
        <p:spPr>
          <a:xfrm>
            <a:off x="9518904" y="3218688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alerts &amp; anomaly detection</a:t>
            </a:r>
            <a:endParaRPr lang="en-US" sz="950" dirty="0"/>
          </a:p>
        </p:txBody>
      </p:sp>
      <p:pic>
        <p:nvPicPr>
          <p:cNvPr id="62" name="Image 2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2016" y="3840480"/>
            <a:ext cx="182880" cy="182880"/>
          </a:xfrm>
          <a:prstGeom prst="rect">
            <a:avLst/>
          </a:prstGeom>
        </p:spPr>
      </p:pic>
      <p:sp>
        <p:nvSpPr>
          <p:cNvPr id="63" name="Text 40"/>
          <p:cNvSpPr/>
          <p:nvPr/>
        </p:nvSpPr>
        <p:spPr>
          <a:xfrm>
            <a:off x="9518904" y="3813048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Policy enforcement</a:t>
            </a:r>
            <a:endParaRPr lang="en-US" sz="950" dirty="0"/>
          </a:p>
        </p:txBody>
      </p:sp>
      <p:pic>
        <p:nvPicPr>
          <p:cNvPr id="64" name="Image 2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2016" y="4434840"/>
            <a:ext cx="182880" cy="182880"/>
          </a:xfrm>
          <a:prstGeom prst="rect">
            <a:avLst/>
          </a:prstGeom>
        </p:spPr>
      </p:pic>
      <p:sp>
        <p:nvSpPr>
          <p:cNvPr id="65" name="Text 41"/>
          <p:cNvSpPr/>
          <p:nvPr/>
        </p:nvSpPr>
        <p:spPr>
          <a:xfrm>
            <a:off x="9518904" y="4407408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FinOps reviews</a:t>
            </a:r>
            <a:endParaRPr lang="en-US" sz="950" dirty="0"/>
          </a:p>
        </p:txBody>
      </p:sp>
      <p:pic>
        <p:nvPicPr>
          <p:cNvPr id="66" name="Image 2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2016" y="5029200"/>
            <a:ext cx="182880" cy="182880"/>
          </a:xfrm>
          <a:prstGeom prst="rect">
            <a:avLst/>
          </a:prstGeom>
        </p:spPr>
      </p:pic>
      <p:sp>
        <p:nvSpPr>
          <p:cNvPr id="67" name="Text 42"/>
          <p:cNvSpPr/>
          <p:nvPr/>
        </p:nvSpPr>
        <p:spPr>
          <a:xfrm>
            <a:off x="9518904" y="5001768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cost dashboard</a:t>
            </a:r>
            <a:endParaRPr lang="en-US" sz="950" dirty="0"/>
          </a:p>
        </p:txBody>
      </p:sp>
      <p:sp>
        <p:nvSpPr>
          <p:cNvPr id="68" name="Shape 43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A2F5C"/>
          </a:solidFill>
          <a:ln w="12700">
            <a:solidFill>
              <a:srgbClr val="1A2F5C"/>
            </a:solidFill>
            <a:prstDash val="solid"/>
          </a:ln>
        </p:spPr>
      </p:sp>
      <p:sp>
        <p:nvSpPr>
          <p:cNvPr id="69" name="Text 44"/>
          <p:cNvSpPr/>
          <p:nvPr/>
        </p:nvSpPr>
        <p:spPr>
          <a:xfrm>
            <a:off x="411480" y="653796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COST OPTIMIZATION PROPOSAL  | 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OPTIMIZE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3657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143000"/>
            <a:ext cx="36576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07592"/>
            <a:ext cx="475488" cy="47548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1408176"/>
            <a:ext cx="274320" cy="2743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044952" y="1280160"/>
            <a:ext cx="914400" cy="365760"/>
          </a:xfrm>
          <a:prstGeom prst="rect">
            <a:avLst/>
          </a:prstGeom>
          <a:solidFill>
            <a:srgbClr val="1565C0">
              <a:alpha val="15000"/>
            </a:srgbClr>
          </a:solidFill>
          <a:ln w="12700">
            <a:solidFill>
              <a:srgbClr val="1565C0">
                <a:alpha val="3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044952" y="1307592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35%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97280" y="13258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(VMs)</a:t>
            </a:r>
            <a:endParaRPr lang="en-US" sz="12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947672"/>
            <a:ext cx="164592" cy="16459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8952" y="192938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idle VMs via CPU metrics</a:t>
            </a:r>
            <a:endParaRPr lang="en-US" sz="9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331720"/>
            <a:ext cx="164592" cy="16459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58952" y="231343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Rightsize to optimal SKU</a:t>
            </a:r>
            <a:endParaRPr lang="en-US" sz="9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715768"/>
            <a:ext cx="164592" cy="16459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58952" y="26974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auto-shutdown schedules</a:t>
            </a:r>
            <a:endParaRPr lang="en-US" sz="9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099816"/>
            <a:ext cx="164592" cy="16459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58952" y="308152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workloads to fewer VMs</a:t>
            </a:r>
            <a:endParaRPr lang="en-US" sz="950" dirty="0"/>
          </a:p>
        </p:txBody>
      </p:sp>
      <p:sp>
        <p:nvSpPr>
          <p:cNvPr id="20" name="Shape 13"/>
          <p:cNvSpPr/>
          <p:nvPr/>
        </p:nvSpPr>
        <p:spPr>
          <a:xfrm>
            <a:off x="4297680" y="1143000"/>
            <a:ext cx="3657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4297680" y="1143000"/>
            <a:ext cx="365760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4434840" y="1307592"/>
            <a:ext cx="475488" cy="475488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5424" y="1408176"/>
            <a:ext cx="274320" cy="274320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6931152" y="1280160"/>
            <a:ext cx="914400" cy="365760"/>
          </a:xfrm>
          <a:prstGeom prst="rect">
            <a:avLst/>
          </a:prstGeom>
          <a:solidFill>
            <a:srgbClr val="00897B">
              <a:alpha val="15000"/>
            </a:srgbClr>
          </a:solidFill>
          <a:ln w="12700">
            <a:solidFill>
              <a:srgbClr val="00897B">
                <a:alpha val="30000"/>
              </a:srgbClr>
            </a:solidFill>
            <a:prstDash val="solid"/>
          </a:ln>
        </p:spPr>
      </p:sp>
      <p:sp>
        <p:nvSpPr>
          <p:cNvPr id="25" name="Text 17"/>
          <p:cNvSpPr/>
          <p:nvPr/>
        </p:nvSpPr>
        <p:spPr>
          <a:xfrm>
            <a:off x="6931152" y="1307592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65%</a:t>
            </a:r>
            <a:endParaRPr lang="en-US" sz="900" dirty="0"/>
          </a:p>
        </p:txBody>
      </p:sp>
      <p:sp>
        <p:nvSpPr>
          <p:cNvPr id="26" name="Text 18"/>
          <p:cNvSpPr/>
          <p:nvPr/>
        </p:nvSpPr>
        <p:spPr>
          <a:xfrm>
            <a:off x="4983480" y="13258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Reservations &amp; Licensing</a:t>
            </a:r>
            <a:endParaRPr lang="en-US" sz="125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1947672"/>
            <a:ext cx="164592" cy="164592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4645152" y="192938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1-yr / 3-yr Reserved Instances</a:t>
            </a:r>
            <a:endParaRPr lang="en-US" sz="950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2331720"/>
            <a:ext cx="164592" cy="164592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4645152" y="231343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Hybrid Benefit (Windows/SQL)</a:t>
            </a:r>
            <a:endParaRPr lang="en-US" sz="950" dirty="0"/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2715768"/>
            <a:ext cx="164592" cy="164592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4645152" y="26974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Savings Plans</a:t>
            </a:r>
            <a:endParaRPr lang="en-US" sz="950" dirty="0"/>
          </a:p>
        </p:txBody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3099816"/>
            <a:ext cx="164592" cy="164592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4645152" y="308152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Dev/Test subscription pricing</a:t>
            </a:r>
            <a:endParaRPr lang="en-US" sz="950" dirty="0"/>
          </a:p>
        </p:txBody>
      </p:sp>
      <p:sp>
        <p:nvSpPr>
          <p:cNvPr id="35" name="Shape 23"/>
          <p:cNvSpPr/>
          <p:nvPr/>
        </p:nvSpPr>
        <p:spPr>
          <a:xfrm>
            <a:off x="8183880" y="1143000"/>
            <a:ext cx="3657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24"/>
          <p:cNvSpPr/>
          <p:nvPr/>
        </p:nvSpPr>
        <p:spPr>
          <a:xfrm>
            <a:off x="8183880" y="1143000"/>
            <a:ext cx="3657600" cy="7315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7" name="Shape 25"/>
          <p:cNvSpPr/>
          <p:nvPr/>
        </p:nvSpPr>
        <p:spPr>
          <a:xfrm>
            <a:off x="8321040" y="1307592"/>
            <a:ext cx="475488" cy="475488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pic>
        <p:nvPicPr>
          <p:cNvPr id="38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1624" y="1408176"/>
            <a:ext cx="274320" cy="274320"/>
          </a:xfrm>
          <a:prstGeom prst="rect">
            <a:avLst/>
          </a:prstGeom>
        </p:spPr>
      </p:pic>
      <p:sp>
        <p:nvSpPr>
          <p:cNvPr id="39" name="Shape 26"/>
          <p:cNvSpPr/>
          <p:nvPr/>
        </p:nvSpPr>
        <p:spPr>
          <a:xfrm>
            <a:off x="10817352" y="1280160"/>
            <a:ext cx="914400" cy="365760"/>
          </a:xfrm>
          <a:prstGeom prst="rect">
            <a:avLst/>
          </a:prstGeom>
          <a:solidFill>
            <a:srgbClr val="F9A825">
              <a:alpha val="15000"/>
            </a:srgbClr>
          </a:solidFill>
          <a:ln w="12700">
            <a:solidFill>
              <a:srgbClr val="F9A825">
                <a:alpha val="30000"/>
              </a:srgbClr>
            </a:solidFill>
            <a:prstDash val="solid"/>
          </a:ln>
        </p:spPr>
      </p:sp>
      <p:sp>
        <p:nvSpPr>
          <p:cNvPr id="40" name="Text 27"/>
          <p:cNvSpPr/>
          <p:nvPr/>
        </p:nvSpPr>
        <p:spPr>
          <a:xfrm>
            <a:off x="10817352" y="1307592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40%</a:t>
            </a:r>
            <a:endParaRPr lang="en-US" sz="900" dirty="0"/>
          </a:p>
        </p:txBody>
      </p:sp>
      <p:sp>
        <p:nvSpPr>
          <p:cNvPr id="41" name="Text 28"/>
          <p:cNvSpPr/>
          <p:nvPr/>
        </p:nvSpPr>
        <p:spPr>
          <a:xfrm>
            <a:off x="8869680" y="13258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Databases</a:t>
            </a:r>
            <a:endParaRPr lang="en-US" sz="1250" dirty="0"/>
          </a:p>
        </p:txBody>
      </p:sp>
      <p:pic>
        <p:nvPicPr>
          <p:cNvPr id="42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1947672"/>
            <a:ext cx="164592" cy="164592"/>
          </a:xfrm>
          <a:prstGeom prst="rect">
            <a:avLst/>
          </a:prstGeom>
        </p:spPr>
      </p:pic>
      <p:sp>
        <p:nvSpPr>
          <p:cNvPr id="43" name="Text 29"/>
          <p:cNvSpPr/>
          <p:nvPr/>
        </p:nvSpPr>
        <p:spPr>
          <a:xfrm>
            <a:off x="8531352" y="192938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lifecycle (Hot → Archive)</a:t>
            </a:r>
            <a:endParaRPr lang="en-US" sz="950" dirty="0"/>
          </a:p>
        </p:txBody>
      </p:sp>
      <p:pic>
        <p:nvPicPr>
          <p:cNvPr id="44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2331720"/>
            <a:ext cx="164592" cy="164592"/>
          </a:xfrm>
          <a:prstGeom prst="rect">
            <a:avLst/>
          </a:prstGeom>
        </p:spPr>
      </p:pic>
      <p:sp>
        <p:nvSpPr>
          <p:cNvPr id="45" name="Text 30"/>
          <p:cNvSpPr/>
          <p:nvPr/>
        </p:nvSpPr>
        <p:spPr>
          <a:xfrm>
            <a:off x="8531352" y="231343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Auto-pause SQL Serverless DBs</a:t>
            </a:r>
            <a:endParaRPr lang="en-US" sz="950" dirty="0"/>
          </a:p>
        </p:txBody>
      </p:sp>
      <p:pic>
        <p:nvPicPr>
          <p:cNvPr id="46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2715768"/>
            <a:ext cx="164592" cy="164592"/>
          </a:xfrm>
          <a:prstGeom prst="rect">
            <a:avLst/>
          </a:prstGeom>
        </p:spPr>
      </p:pic>
      <p:sp>
        <p:nvSpPr>
          <p:cNvPr id="47" name="Text 31"/>
          <p:cNvSpPr/>
          <p:nvPr/>
        </p:nvSpPr>
        <p:spPr>
          <a:xfrm>
            <a:off x="8531352" y="26974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Pool right-sizing</a:t>
            </a:r>
            <a:endParaRPr lang="en-US" sz="950" dirty="0"/>
          </a:p>
        </p:txBody>
      </p:sp>
      <p:pic>
        <p:nvPicPr>
          <p:cNvPr id="48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3099816"/>
            <a:ext cx="164592" cy="164592"/>
          </a:xfrm>
          <a:prstGeom prst="rect">
            <a:avLst/>
          </a:prstGeom>
        </p:spPr>
      </p:pic>
      <p:sp>
        <p:nvSpPr>
          <p:cNvPr id="49" name="Text 32"/>
          <p:cNvSpPr/>
          <p:nvPr/>
        </p:nvSpPr>
        <p:spPr>
          <a:xfrm>
            <a:off x="8531352" y="308152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orphaned snapshots &amp; disks</a:t>
            </a:r>
            <a:endParaRPr lang="en-US" sz="950" dirty="0"/>
          </a:p>
        </p:txBody>
      </p:sp>
      <p:sp>
        <p:nvSpPr>
          <p:cNvPr id="50" name="Shape 33"/>
          <p:cNvSpPr/>
          <p:nvPr/>
        </p:nvSpPr>
        <p:spPr>
          <a:xfrm>
            <a:off x="411480" y="3657600"/>
            <a:ext cx="3657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1" name="Shape 34"/>
          <p:cNvSpPr/>
          <p:nvPr/>
        </p:nvSpPr>
        <p:spPr>
          <a:xfrm>
            <a:off x="411480" y="3657600"/>
            <a:ext cx="3657600" cy="73152"/>
          </a:xfrm>
          <a:prstGeom prst="rect">
            <a:avLst/>
          </a:prstGeom>
          <a:solidFill>
            <a:srgbClr val="1A2F5C"/>
          </a:solidFill>
          <a:ln w="12700">
            <a:solidFill>
              <a:srgbClr val="1A2F5C"/>
            </a:solidFill>
            <a:prstDash val="solid"/>
          </a:ln>
        </p:spPr>
      </p:sp>
      <p:sp>
        <p:nvSpPr>
          <p:cNvPr id="52" name="Shape 35"/>
          <p:cNvSpPr/>
          <p:nvPr/>
        </p:nvSpPr>
        <p:spPr>
          <a:xfrm>
            <a:off x="548640" y="3822192"/>
            <a:ext cx="475488" cy="475488"/>
          </a:xfrm>
          <a:prstGeom prst="ellipse">
            <a:avLst/>
          </a:prstGeom>
          <a:solidFill>
            <a:srgbClr val="1A2F5C"/>
          </a:solidFill>
          <a:ln w="12700">
            <a:solidFill>
              <a:srgbClr val="1A2F5C"/>
            </a:solidFill>
            <a:prstDash val="solid"/>
          </a:ln>
        </p:spPr>
      </p:sp>
      <p:pic>
        <p:nvPicPr>
          <p:cNvPr id="53" name="Image 1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" y="3922776"/>
            <a:ext cx="274320" cy="274320"/>
          </a:xfrm>
          <a:prstGeom prst="rect">
            <a:avLst/>
          </a:prstGeom>
        </p:spPr>
      </p:pic>
      <p:sp>
        <p:nvSpPr>
          <p:cNvPr id="54" name="Shape 36"/>
          <p:cNvSpPr/>
          <p:nvPr/>
        </p:nvSpPr>
        <p:spPr>
          <a:xfrm>
            <a:off x="3044952" y="3794760"/>
            <a:ext cx="914400" cy="365760"/>
          </a:xfrm>
          <a:prstGeom prst="rect">
            <a:avLst/>
          </a:prstGeom>
          <a:solidFill>
            <a:srgbClr val="1A2F5C">
              <a:alpha val="15000"/>
            </a:srgbClr>
          </a:solidFill>
          <a:ln w="12700">
            <a:solidFill>
              <a:srgbClr val="1A2F5C">
                <a:alpha val="30000"/>
              </a:srgbClr>
            </a:solidFill>
            <a:prstDash val="solid"/>
          </a:ln>
        </p:spPr>
      </p:sp>
      <p:sp>
        <p:nvSpPr>
          <p:cNvPr id="55" name="Text 37"/>
          <p:cNvSpPr/>
          <p:nvPr/>
        </p:nvSpPr>
        <p:spPr>
          <a:xfrm>
            <a:off x="3044952" y="3822192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900" dirty="0"/>
          </a:p>
        </p:txBody>
      </p:sp>
      <p:sp>
        <p:nvSpPr>
          <p:cNvPr id="56" name="Text 38"/>
          <p:cNvSpPr/>
          <p:nvPr/>
        </p:nvSpPr>
        <p:spPr>
          <a:xfrm>
            <a:off x="1097280" y="38404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Tagging &amp; Governance</a:t>
            </a:r>
            <a:endParaRPr lang="en-US" sz="1250" dirty="0"/>
          </a:p>
        </p:txBody>
      </p:sp>
      <p:pic>
        <p:nvPicPr>
          <p:cNvPr id="57" name="Image 1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462272"/>
            <a:ext cx="164592" cy="164592"/>
          </a:xfrm>
          <a:prstGeom prst="rect">
            <a:avLst/>
          </a:prstGeom>
        </p:spPr>
      </p:pic>
      <p:sp>
        <p:nvSpPr>
          <p:cNvPr id="58" name="Text 39"/>
          <p:cNvSpPr/>
          <p:nvPr/>
        </p:nvSpPr>
        <p:spPr>
          <a:xfrm>
            <a:off x="758952" y="444398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mandatory tags via Policy</a:t>
            </a:r>
            <a:endParaRPr lang="en-US" sz="950" dirty="0"/>
          </a:p>
        </p:txBody>
      </p:sp>
      <p:pic>
        <p:nvPicPr>
          <p:cNvPr id="59" name="Image 1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846320"/>
            <a:ext cx="164592" cy="164592"/>
          </a:xfrm>
          <a:prstGeom prst="rect">
            <a:avLst/>
          </a:prstGeom>
        </p:spPr>
      </p:pic>
      <p:sp>
        <p:nvSpPr>
          <p:cNvPr id="60" name="Text 40"/>
          <p:cNvSpPr/>
          <p:nvPr/>
        </p:nvSpPr>
        <p:spPr>
          <a:xfrm>
            <a:off x="758952" y="482803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Chargeback to cost centers</a:t>
            </a:r>
            <a:endParaRPr lang="en-US" sz="950" dirty="0"/>
          </a:p>
        </p:txBody>
      </p:sp>
      <p:pic>
        <p:nvPicPr>
          <p:cNvPr id="61" name="Image 1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230368"/>
            <a:ext cx="164592" cy="164592"/>
          </a:xfrm>
          <a:prstGeom prst="rect">
            <a:avLst/>
          </a:prstGeom>
        </p:spPr>
      </p:pic>
      <p:sp>
        <p:nvSpPr>
          <p:cNvPr id="62" name="Text 41"/>
          <p:cNvSpPr/>
          <p:nvPr/>
        </p:nvSpPr>
        <p:spPr>
          <a:xfrm>
            <a:off x="758952" y="52120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alerts at 80% / 100%</a:t>
            </a:r>
            <a:endParaRPr lang="en-US" sz="950" dirty="0"/>
          </a:p>
        </p:txBody>
      </p:sp>
      <p:pic>
        <p:nvPicPr>
          <p:cNvPr id="63" name="Image 1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614416"/>
            <a:ext cx="164592" cy="164592"/>
          </a:xfrm>
          <a:prstGeom prst="rect">
            <a:avLst/>
          </a:prstGeom>
        </p:spPr>
      </p:pic>
      <p:sp>
        <p:nvSpPr>
          <p:cNvPr id="64" name="Text 42"/>
          <p:cNvSpPr/>
          <p:nvPr/>
        </p:nvSpPr>
        <p:spPr>
          <a:xfrm>
            <a:off x="758952" y="559612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expensive VM SKUs</a:t>
            </a:r>
            <a:endParaRPr lang="en-US" sz="950" dirty="0"/>
          </a:p>
        </p:txBody>
      </p:sp>
      <p:sp>
        <p:nvSpPr>
          <p:cNvPr id="65" name="Shape 43"/>
          <p:cNvSpPr/>
          <p:nvPr/>
        </p:nvSpPr>
        <p:spPr>
          <a:xfrm>
            <a:off x="4297680" y="3657600"/>
            <a:ext cx="3657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6" name="Shape 44"/>
          <p:cNvSpPr/>
          <p:nvPr/>
        </p:nvSpPr>
        <p:spPr>
          <a:xfrm>
            <a:off x="4297680" y="3657600"/>
            <a:ext cx="3657600" cy="7315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67" name="Shape 45"/>
          <p:cNvSpPr/>
          <p:nvPr/>
        </p:nvSpPr>
        <p:spPr>
          <a:xfrm>
            <a:off x="4434840" y="3822192"/>
            <a:ext cx="475488" cy="475488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pic>
        <p:nvPicPr>
          <p:cNvPr id="68" name="Image 2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35424" y="3922776"/>
            <a:ext cx="274320" cy="274320"/>
          </a:xfrm>
          <a:prstGeom prst="rect">
            <a:avLst/>
          </a:prstGeom>
        </p:spPr>
      </p:pic>
      <p:sp>
        <p:nvSpPr>
          <p:cNvPr id="69" name="Shape 46"/>
          <p:cNvSpPr/>
          <p:nvPr/>
        </p:nvSpPr>
        <p:spPr>
          <a:xfrm>
            <a:off x="6931152" y="3794760"/>
            <a:ext cx="914400" cy="365760"/>
          </a:xfrm>
          <a:prstGeom prst="rect">
            <a:avLst/>
          </a:prstGeom>
          <a:solidFill>
            <a:srgbClr val="43A047">
              <a:alpha val="15000"/>
            </a:srgbClr>
          </a:solidFill>
          <a:ln w="12700">
            <a:solidFill>
              <a:srgbClr val="43A047">
                <a:alpha val="30000"/>
              </a:srgbClr>
            </a:solidFill>
            <a:prstDash val="solid"/>
          </a:ln>
        </p:spPr>
      </p:sp>
      <p:sp>
        <p:nvSpPr>
          <p:cNvPr id="70" name="Text 47"/>
          <p:cNvSpPr/>
          <p:nvPr/>
        </p:nvSpPr>
        <p:spPr>
          <a:xfrm>
            <a:off x="6931152" y="3822192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20%</a:t>
            </a:r>
            <a:endParaRPr lang="en-US" sz="900" dirty="0"/>
          </a:p>
        </p:txBody>
      </p:sp>
      <p:sp>
        <p:nvSpPr>
          <p:cNvPr id="71" name="Text 48"/>
          <p:cNvSpPr/>
          <p:nvPr/>
        </p:nvSpPr>
        <p:spPr>
          <a:xfrm>
            <a:off x="4983480" y="38404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</a:t>
            </a:r>
            <a:endParaRPr lang="en-US" sz="1250" dirty="0"/>
          </a:p>
        </p:txBody>
      </p:sp>
      <p:pic>
        <p:nvPicPr>
          <p:cNvPr id="72" name="Image 2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4462272"/>
            <a:ext cx="164592" cy="164592"/>
          </a:xfrm>
          <a:prstGeom prst="rect">
            <a:avLst/>
          </a:prstGeom>
        </p:spPr>
      </p:pic>
      <p:sp>
        <p:nvSpPr>
          <p:cNvPr id="73" name="Text 49"/>
          <p:cNvSpPr/>
          <p:nvPr/>
        </p:nvSpPr>
        <p:spPr>
          <a:xfrm>
            <a:off x="4645152" y="444398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idle Load Balancers</a:t>
            </a:r>
            <a:endParaRPr lang="en-US" sz="950" dirty="0"/>
          </a:p>
        </p:txBody>
      </p:sp>
      <p:pic>
        <p:nvPicPr>
          <p:cNvPr id="74" name="Image 2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4846320"/>
            <a:ext cx="164592" cy="164592"/>
          </a:xfrm>
          <a:prstGeom prst="rect">
            <a:avLst/>
          </a:prstGeom>
        </p:spPr>
      </p:pic>
      <p:sp>
        <p:nvSpPr>
          <p:cNvPr id="75" name="Text 50"/>
          <p:cNvSpPr/>
          <p:nvPr/>
        </p:nvSpPr>
        <p:spPr>
          <a:xfrm>
            <a:off x="4645152" y="482803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unused Public IPs &amp; NICs</a:t>
            </a:r>
            <a:endParaRPr lang="en-US" sz="950" dirty="0"/>
          </a:p>
        </p:txBody>
      </p:sp>
      <p:pic>
        <p:nvPicPr>
          <p:cNvPr id="76" name="Image 2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5230368"/>
            <a:ext cx="164592" cy="164592"/>
          </a:xfrm>
          <a:prstGeom prst="rect">
            <a:avLst/>
          </a:prstGeom>
        </p:spPr>
      </p:pic>
      <p:sp>
        <p:nvSpPr>
          <p:cNvPr id="77" name="Text 51"/>
          <p:cNvSpPr/>
          <p:nvPr/>
        </p:nvSpPr>
        <p:spPr>
          <a:xfrm>
            <a:off x="4645152" y="52120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NAT Gateway usage</a:t>
            </a:r>
            <a:endParaRPr lang="en-US" sz="950" dirty="0"/>
          </a:p>
        </p:txBody>
      </p:sp>
      <p:pic>
        <p:nvPicPr>
          <p:cNvPr id="78" name="Image 2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5614416"/>
            <a:ext cx="164592" cy="164592"/>
          </a:xfrm>
          <a:prstGeom prst="rect">
            <a:avLst/>
          </a:prstGeom>
        </p:spPr>
      </p:pic>
      <p:sp>
        <p:nvSpPr>
          <p:cNvPr id="79" name="Text 52"/>
          <p:cNvSpPr/>
          <p:nvPr/>
        </p:nvSpPr>
        <p:spPr>
          <a:xfrm>
            <a:off x="4645152" y="559612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CDN for static assets</a:t>
            </a:r>
            <a:endParaRPr lang="en-US" sz="950" dirty="0"/>
          </a:p>
        </p:txBody>
      </p:sp>
      <p:sp>
        <p:nvSpPr>
          <p:cNvPr id="80" name="Shape 53"/>
          <p:cNvSpPr/>
          <p:nvPr/>
        </p:nvSpPr>
        <p:spPr>
          <a:xfrm>
            <a:off x="8183880" y="3657600"/>
            <a:ext cx="3657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1" name="Shape 54"/>
          <p:cNvSpPr/>
          <p:nvPr/>
        </p:nvSpPr>
        <p:spPr>
          <a:xfrm>
            <a:off x="8183880" y="3657600"/>
            <a:ext cx="3657600" cy="7315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82" name="Shape 55"/>
          <p:cNvSpPr/>
          <p:nvPr/>
        </p:nvSpPr>
        <p:spPr>
          <a:xfrm>
            <a:off x="8321040" y="3822192"/>
            <a:ext cx="475488" cy="475488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pic>
        <p:nvPicPr>
          <p:cNvPr id="83" name="Image 2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21624" y="3922776"/>
            <a:ext cx="274320" cy="274320"/>
          </a:xfrm>
          <a:prstGeom prst="rect">
            <a:avLst/>
          </a:prstGeom>
        </p:spPr>
      </p:pic>
      <p:sp>
        <p:nvSpPr>
          <p:cNvPr id="84" name="Shape 56"/>
          <p:cNvSpPr/>
          <p:nvPr/>
        </p:nvSpPr>
        <p:spPr>
          <a:xfrm>
            <a:off x="10817352" y="3794760"/>
            <a:ext cx="914400" cy="365760"/>
          </a:xfrm>
          <a:prstGeom prst="rect">
            <a:avLst/>
          </a:prstGeom>
          <a:solidFill>
            <a:srgbClr val="1E88E5">
              <a:alpha val="15000"/>
            </a:srgbClr>
          </a:solidFill>
          <a:ln w="12700">
            <a:solidFill>
              <a:srgbClr val="1E88E5">
                <a:alpha val="30000"/>
              </a:srgbClr>
            </a:solidFill>
            <a:prstDash val="solid"/>
          </a:ln>
        </p:spPr>
      </p:sp>
      <p:sp>
        <p:nvSpPr>
          <p:cNvPr id="85" name="Text 57"/>
          <p:cNvSpPr/>
          <p:nvPr/>
        </p:nvSpPr>
        <p:spPr>
          <a:xfrm>
            <a:off x="10817352" y="3822192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900" dirty="0"/>
          </a:p>
        </p:txBody>
      </p:sp>
      <p:sp>
        <p:nvSpPr>
          <p:cNvPr id="86" name="Text 58"/>
          <p:cNvSpPr/>
          <p:nvPr/>
        </p:nvSpPr>
        <p:spPr>
          <a:xfrm>
            <a:off x="8869680" y="38404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&amp; Monitoring</a:t>
            </a:r>
            <a:endParaRPr lang="en-US" sz="1250" dirty="0"/>
          </a:p>
        </p:txBody>
      </p:sp>
      <p:pic>
        <p:nvPicPr>
          <p:cNvPr id="87" name="Image 2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462272"/>
            <a:ext cx="164592" cy="164592"/>
          </a:xfrm>
          <a:prstGeom prst="rect">
            <a:avLst/>
          </a:prstGeom>
        </p:spPr>
      </p:pic>
      <p:sp>
        <p:nvSpPr>
          <p:cNvPr id="88" name="Text 59"/>
          <p:cNvSpPr/>
          <p:nvPr/>
        </p:nvSpPr>
        <p:spPr>
          <a:xfrm>
            <a:off x="8531352" y="444398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Start/Stop Runbooks (save 65%)</a:t>
            </a:r>
            <a:endParaRPr lang="en-US" sz="950" dirty="0"/>
          </a:p>
        </p:txBody>
      </p:sp>
      <p:pic>
        <p:nvPicPr>
          <p:cNvPr id="89" name="Image 2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846320"/>
            <a:ext cx="164592" cy="164592"/>
          </a:xfrm>
          <a:prstGeom prst="rect">
            <a:avLst/>
          </a:prstGeom>
        </p:spPr>
      </p:pic>
      <p:sp>
        <p:nvSpPr>
          <p:cNvPr id="90" name="Text 60"/>
          <p:cNvSpPr/>
          <p:nvPr/>
        </p:nvSpPr>
        <p:spPr>
          <a:xfrm>
            <a:off x="8531352" y="482803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alerts</a:t>
            </a:r>
            <a:endParaRPr lang="en-US" sz="950" dirty="0"/>
          </a:p>
        </p:txBody>
      </p:sp>
      <p:pic>
        <p:nvPicPr>
          <p:cNvPr id="91" name="Image 2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5230368"/>
            <a:ext cx="164592" cy="164592"/>
          </a:xfrm>
          <a:prstGeom prst="rect">
            <a:avLst/>
          </a:prstGeom>
        </p:spPr>
      </p:pic>
      <p:sp>
        <p:nvSpPr>
          <p:cNvPr id="92" name="Text 61"/>
          <p:cNvSpPr/>
          <p:nvPr/>
        </p:nvSpPr>
        <p:spPr>
          <a:xfrm>
            <a:off x="8531352" y="52120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cost dashboard</a:t>
            </a:r>
            <a:endParaRPr lang="en-US" sz="950" dirty="0"/>
          </a:p>
        </p:txBody>
      </p:sp>
      <p:pic>
        <p:nvPicPr>
          <p:cNvPr id="93" name="Image 2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5614416"/>
            <a:ext cx="164592" cy="164592"/>
          </a:xfrm>
          <a:prstGeom prst="rect">
            <a:avLst/>
          </a:prstGeom>
        </p:spPr>
      </p:pic>
      <p:sp>
        <p:nvSpPr>
          <p:cNvPr id="94" name="Text 62"/>
          <p:cNvSpPr/>
          <p:nvPr/>
        </p:nvSpPr>
        <p:spPr>
          <a:xfrm>
            <a:off x="8531352" y="559612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optimization sprints</a:t>
            </a:r>
            <a:endParaRPr lang="en-US" sz="950" dirty="0"/>
          </a:p>
        </p:txBody>
      </p:sp>
      <p:sp>
        <p:nvSpPr>
          <p:cNvPr id="95" name="Shape 63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96" name="Text 64"/>
          <p:cNvSpPr/>
          <p:nvPr/>
        </p:nvSpPr>
        <p:spPr>
          <a:xfrm>
            <a:off x="411480" y="653796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COST OPTIMIZATION PROPOSAL  | 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TIMELINE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– 60 – 90 Day Action Plan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097280" y="2176272"/>
            <a:ext cx="10241280" cy="0"/>
          </a:xfrm>
          <a:prstGeom prst="line">
            <a:avLst/>
          </a:prstGeom>
          <a:noFill/>
          <a:ln w="12700">
            <a:solidFill>
              <a:srgbClr val="1E88E5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48840" y="2011680"/>
            <a:ext cx="329184" cy="329184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2848" y="2075688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5544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1–30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097280" y="2468880"/>
            <a:ext cx="3291840" cy="3840480"/>
          </a:xfrm>
          <a:prstGeom prst="rect">
            <a:avLst/>
          </a:prstGeom>
          <a:solidFill>
            <a:srgbClr val="1A2F5C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97280" y="2468880"/>
            <a:ext cx="3291840" cy="658368"/>
          </a:xfrm>
          <a:prstGeom prst="rect">
            <a:avLst/>
          </a:prstGeom>
          <a:solidFill>
            <a:srgbClr val="1E88E5">
              <a:alpha val="80000"/>
            </a:srgbClr>
          </a:solidFill>
          <a:ln w="12700">
            <a:solidFill>
              <a:srgbClr val="1E88E5">
                <a:alpha val="8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80160" y="2505456"/>
            <a:ext cx="23774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&amp;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383280" y="2542032"/>
            <a:ext cx="914400" cy="457200"/>
          </a:xfrm>
          <a:prstGeom prst="rect">
            <a:avLst/>
          </a:prstGeom>
          <a:solidFill>
            <a:srgbClr val="0D1B3E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83280" y="256032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Save: 10–15%</a:t>
            </a:r>
            <a:endParaRPr lang="en-US" sz="8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3310128"/>
            <a:ext cx="164592" cy="16459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463040" y="329184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Azure Cost Management</a:t>
            </a:r>
            <a:endParaRPr lang="en-US" sz="95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3749040"/>
            <a:ext cx="164592" cy="1645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73075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tagging across all resources</a:t>
            </a:r>
            <a:endParaRPr lang="en-US" sz="95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4187952"/>
            <a:ext cx="164592" cy="16459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63040" y="4169664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orphaned disks, IPs, NICs</a:t>
            </a:r>
            <a:endParaRPr lang="en-US" sz="95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4626864"/>
            <a:ext cx="164592" cy="16459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463040" y="4608576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Azure Hybrid Benefit</a:t>
            </a:r>
            <a:endParaRPr lang="en-US" sz="95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5065776"/>
            <a:ext cx="164592" cy="16459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463040" y="504748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auto-shutdown (dev/test VMs)</a:t>
            </a:r>
            <a:endParaRPr lang="en-US" sz="95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5504688"/>
            <a:ext cx="164592" cy="16459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463040" y="548640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budget alerts</a:t>
            </a:r>
            <a:endParaRPr lang="en-US" sz="950" dirty="0"/>
          </a:p>
        </p:txBody>
      </p:sp>
      <p:sp>
        <p:nvSpPr>
          <p:cNvPr id="26" name="Shape 17"/>
          <p:cNvSpPr/>
          <p:nvPr/>
        </p:nvSpPr>
        <p:spPr>
          <a:xfrm>
            <a:off x="5577840" y="2011680"/>
            <a:ext cx="329184" cy="329184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1848" y="2075688"/>
            <a:ext cx="201168" cy="201168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4800600" y="15544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31–60</a:t>
            </a:r>
            <a:endParaRPr lang="en-US" sz="1100" dirty="0"/>
          </a:p>
        </p:txBody>
      </p:sp>
      <p:sp>
        <p:nvSpPr>
          <p:cNvPr id="29" name="Shape 19"/>
          <p:cNvSpPr/>
          <p:nvPr/>
        </p:nvSpPr>
        <p:spPr>
          <a:xfrm>
            <a:off x="4526280" y="2468880"/>
            <a:ext cx="3291840" cy="3840480"/>
          </a:xfrm>
          <a:prstGeom prst="rect">
            <a:avLst/>
          </a:prstGeom>
          <a:solidFill>
            <a:srgbClr val="1A2F5C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0" name="Shape 20"/>
          <p:cNvSpPr/>
          <p:nvPr/>
        </p:nvSpPr>
        <p:spPr>
          <a:xfrm>
            <a:off x="4526280" y="2468880"/>
            <a:ext cx="3291840" cy="658368"/>
          </a:xfrm>
          <a:prstGeom prst="rect">
            <a:avLst/>
          </a:prstGeom>
          <a:solidFill>
            <a:srgbClr val="00897B">
              <a:alpha val="80000"/>
            </a:srgbClr>
          </a:solidFill>
          <a:ln w="12700">
            <a:solidFill>
              <a:srgbClr val="00897B">
                <a:alpha val="80000"/>
              </a:srgbClr>
            </a:solidFill>
            <a:prstDash val="solid"/>
          </a:ln>
        </p:spPr>
      </p:sp>
      <p:sp>
        <p:nvSpPr>
          <p:cNvPr id="31" name="Text 21"/>
          <p:cNvSpPr/>
          <p:nvPr/>
        </p:nvSpPr>
        <p:spPr>
          <a:xfrm>
            <a:off x="4709160" y="2505456"/>
            <a:ext cx="23774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Rightsize &amp;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400" dirty="0"/>
          </a:p>
        </p:txBody>
      </p:sp>
      <p:sp>
        <p:nvSpPr>
          <p:cNvPr id="32" name="Shape 22"/>
          <p:cNvSpPr/>
          <p:nvPr/>
        </p:nvSpPr>
        <p:spPr>
          <a:xfrm>
            <a:off x="6812280" y="2542032"/>
            <a:ext cx="914400" cy="457200"/>
          </a:xfrm>
          <a:prstGeom prst="rect">
            <a:avLst/>
          </a:prstGeom>
          <a:solidFill>
            <a:srgbClr val="0D1B3E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3" name="Text 23"/>
          <p:cNvSpPr/>
          <p:nvPr/>
        </p:nvSpPr>
        <p:spPr>
          <a:xfrm>
            <a:off x="6812280" y="256032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Save: 20–30%</a:t>
            </a:r>
            <a:endParaRPr lang="en-US" sz="800" dirty="0"/>
          </a:p>
        </p:txBody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3310128"/>
            <a:ext cx="164592" cy="164592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4892040" y="329184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Rightsize top 20 VMs (Advisor)</a:t>
            </a:r>
            <a:endParaRPr lang="en-US" sz="950" dirty="0"/>
          </a:p>
        </p:txBody>
      </p:sp>
      <p:pic>
        <p:nvPicPr>
          <p:cNvPr id="36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3749040"/>
            <a:ext cx="164592" cy="164592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4892040" y="373075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1-yr Reserved Instances</a:t>
            </a:r>
            <a:endParaRPr lang="en-US" sz="950" dirty="0"/>
          </a:p>
        </p:txBody>
      </p:sp>
      <p:pic>
        <p:nvPicPr>
          <p:cNvPr id="38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4187952"/>
            <a:ext cx="164592" cy="164592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4892040" y="4169664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lifecycle policies</a:t>
            </a:r>
            <a:endParaRPr lang="en-US" sz="950" dirty="0"/>
          </a:p>
        </p:txBody>
      </p:sp>
      <p:pic>
        <p:nvPicPr>
          <p:cNvPr id="40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4626864"/>
            <a:ext cx="164592" cy="164592"/>
          </a:xfrm>
          <a:prstGeom prst="rect">
            <a:avLst/>
          </a:prstGeom>
        </p:spPr>
      </p:pic>
      <p:sp>
        <p:nvSpPr>
          <p:cNvPr id="41" name="Text 27"/>
          <p:cNvSpPr/>
          <p:nvPr/>
        </p:nvSpPr>
        <p:spPr>
          <a:xfrm>
            <a:off x="4892040" y="4608576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Auto-pause dev/test SQL databases</a:t>
            </a:r>
            <a:endParaRPr lang="en-US" sz="950" dirty="0"/>
          </a:p>
        </p:txBody>
      </p:sp>
      <p:pic>
        <p:nvPicPr>
          <p:cNvPr id="42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5065776"/>
            <a:ext cx="164592" cy="164592"/>
          </a:xfrm>
          <a:prstGeom prst="rect">
            <a:avLst/>
          </a:prstGeom>
        </p:spPr>
      </p:pic>
      <p:sp>
        <p:nvSpPr>
          <p:cNvPr id="43" name="Text 28"/>
          <p:cNvSpPr/>
          <p:nvPr/>
        </p:nvSpPr>
        <p:spPr>
          <a:xfrm>
            <a:off x="4892040" y="504748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Compute Savings Plans</a:t>
            </a:r>
            <a:endParaRPr lang="en-US" sz="950" dirty="0"/>
          </a:p>
        </p:txBody>
      </p:sp>
      <p:pic>
        <p:nvPicPr>
          <p:cNvPr id="44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5504688"/>
            <a:ext cx="164592" cy="164592"/>
          </a:xfrm>
          <a:prstGeom prst="rect">
            <a:avLst/>
          </a:prstGeom>
        </p:spPr>
      </p:pic>
      <p:sp>
        <p:nvSpPr>
          <p:cNvPr id="45" name="Text 29"/>
          <p:cNvSpPr/>
          <p:nvPr/>
        </p:nvSpPr>
        <p:spPr>
          <a:xfrm>
            <a:off x="4892040" y="548640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reduce idle databases</a:t>
            </a:r>
            <a:endParaRPr lang="en-US" sz="950" dirty="0"/>
          </a:p>
        </p:txBody>
      </p:sp>
      <p:sp>
        <p:nvSpPr>
          <p:cNvPr id="46" name="Shape 30"/>
          <p:cNvSpPr/>
          <p:nvPr/>
        </p:nvSpPr>
        <p:spPr>
          <a:xfrm>
            <a:off x="9006840" y="2011680"/>
            <a:ext cx="329184" cy="329184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pic>
        <p:nvPicPr>
          <p:cNvPr id="47" name="Image 1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0848" y="2075688"/>
            <a:ext cx="201168" cy="201168"/>
          </a:xfrm>
          <a:prstGeom prst="rect">
            <a:avLst/>
          </a:prstGeom>
        </p:spPr>
      </p:pic>
      <p:sp>
        <p:nvSpPr>
          <p:cNvPr id="48" name="Text 31"/>
          <p:cNvSpPr/>
          <p:nvPr/>
        </p:nvSpPr>
        <p:spPr>
          <a:xfrm>
            <a:off x="8229600" y="15544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61–90</a:t>
            </a:r>
            <a:endParaRPr lang="en-US" sz="1100" dirty="0"/>
          </a:p>
        </p:txBody>
      </p:sp>
      <p:sp>
        <p:nvSpPr>
          <p:cNvPr id="49" name="Shape 32"/>
          <p:cNvSpPr/>
          <p:nvPr/>
        </p:nvSpPr>
        <p:spPr>
          <a:xfrm>
            <a:off x="7955280" y="2468880"/>
            <a:ext cx="3291840" cy="3840480"/>
          </a:xfrm>
          <a:prstGeom prst="rect">
            <a:avLst/>
          </a:prstGeom>
          <a:solidFill>
            <a:srgbClr val="1A2F5C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50" name="Shape 33"/>
          <p:cNvSpPr/>
          <p:nvPr/>
        </p:nvSpPr>
        <p:spPr>
          <a:xfrm>
            <a:off x="7955280" y="2468880"/>
            <a:ext cx="3291840" cy="658368"/>
          </a:xfrm>
          <a:prstGeom prst="rect">
            <a:avLst/>
          </a:prstGeom>
          <a:solidFill>
            <a:srgbClr val="43A047">
              <a:alpha val="80000"/>
            </a:srgbClr>
          </a:solidFill>
          <a:ln w="12700">
            <a:solidFill>
              <a:srgbClr val="43A047">
                <a:alpha val="80000"/>
              </a:srgbClr>
            </a:solidFill>
            <a:prstDash val="solid"/>
          </a:ln>
        </p:spPr>
      </p:sp>
      <p:sp>
        <p:nvSpPr>
          <p:cNvPr id="51" name="Text 34"/>
          <p:cNvSpPr/>
          <p:nvPr/>
        </p:nvSpPr>
        <p:spPr>
          <a:xfrm>
            <a:off x="8138160" y="2505456"/>
            <a:ext cx="23774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 &amp;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</a:t>
            </a:r>
            <a:endParaRPr lang="en-US" sz="1400" dirty="0"/>
          </a:p>
        </p:txBody>
      </p:sp>
      <p:sp>
        <p:nvSpPr>
          <p:cNvPr id="52" name="Shape 35"/>
          <p:cNvSpPr/>
          <p:nvPr/>
        </p:nvSpPr>
        <p:spPr>
          <a:xfrm>
            <a:off x="10241280" y="2542032"/>
            <a:ext cx="914400" cy="457200"/>
          </a:xfrm>
          <a:prstGeom prst="rect">
            <a:avLst/>
          </a:prstGeom>
          <a:solidFill>
            <a:srgbClr val="0D1B3E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53" name="Text 36"/>
          <p:cNvSpPr/>
          <p:nvPr/>
        </p:nvSpPr>
        <p:spPr>
          <a:xfrm>
            <a:off x="10241280" y="256032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Save: 35–40%</a:t>
            </a:r>
            <a:endParaRPr lang="en-US" sz="800" dirty="0"/>
          </a:p>
        </p:txBody>
      </p:sp>
      <p:pic>
        <p:nvPicPr>
          <p:cNvPr id="54" name="Image 1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3310128"/>
            <a:ext cx="164592" cy="164592"/>
          </a:xfrm>
          <a:prstGeom prst="rect">
            <a:avLst/>
          </a:prstGeom>
        </p:spPr>
      </p:pic>
      <p:sp>
        <p:nvSpPr>
          <p:cNvPr id="55" name="Text 37"/>
          <p:cNvSpPr/>
          <p:nvPr/>
        </p:nvSpPr>
        <p:spPr>
          <a:xfrm>
            <a:off x="8321040" y="329184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FinOps review cadence</a:t>
            </a:r>
            <a:endParaRPr lang="en-US" sz="950" dirty="0"/>
          </a:p>
        </p:txBody>
      </p:sp>
      <p:pic>
        <p:nvPicPr>
          <p:cNvPr id="56" name="Image 1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3749040"/>
            <a:ext cx="164592" cy="164592"/>
          </a:xfrm>
          <a:prstGeom prst="rect">
            <a:avLst/>
          </a:prstGeom>
        </p:spPr>
      </p:pic>
      <p:sp>
        <p:nvSpPr>
          <p:cNvPr id="57" name="Text 38"/>
          <p:cNvSpPr/>
          <p:nvPr/>
        </p:nvSpPr>
        <p:spPr>
          <a:xfrm>
            <a:off x="8321040" y="373075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start/stop runbooks</a:t>
            </a:r>
            <a:endParaRPr lang="en-US" sz="950" dirty="0"/>
          </a:p>
        </p:txBody>
      </p:sp>
      <p:pic>
        <p:nvPicPr>
          <p:cNvPr id="58" name="Image 1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187952"/>
            <a:ext cx="164592" cy="164592"/>
          </a:xfrm>
          <a:prstGeom prst="rect">
            <a:avLst/>
          </a:prstGeom>
        </p:spPr>
      </p:pic>
      <p:sp>
        <p:nvSpPr>
          <p:cNvPr id="59" name="Text 39"/>
          <p:cNvSpPr/>
          <p:nvPr/>
        </p:nvSpPr>
        <p:spPr>
          <a:xfrm>
            <a:off x="8321040" y="4169664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executive dashboard</a:t>
            </a:r>
            <a:endParaRPr lang="en-US" sz="950" dirty="0"/>
          </a:p>
        </p:txBody>
      </p:sp>
      <p:pic>
        <p:nvPicPr>
          <p:cNvPr id="60" name="Image 1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626864"/>
            <a:ext cx="164592" cy="164592"/>
          </a:xfrm>
          <a:prstGeom prst="rect">
            <a:avLst/>
          </a:prstGeom>
        </p:spPr>
      </p:pic>
      <p:sp>
        <p:nvSpPr>
          <p:cNvPr id="61" name="Text 40"/>
          <p:cNvSpPr/>
          <p:nvPr/>
        </p:nvSpPr>
        <p:spPr>
          <a:xfrm>
            <a:off x="8321040" y="4608576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SKUs via Azure Policy</a:t>
            </a:r>
            <a:endParaRPr lang="en-US" sz="950" dirty="0"/>
          </a:p>
        </p:txBody>
      </p:sp>
      <p:pic>
        <p:nvPicPr>
          <p:cNvPr id="62" name="Image 1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5065776"/>
            <a:ext cx="164592" cy="164592"/>
          </a:xfrm>
          <a:prstGeom prst="rect">
            <a:avLst/>
          </a:prstGeom>
        </p:spPr>
      </p:pic>
      <p:sp>
        <p:nvSpPr>
          <p:cNvPr id="63" name="Text 41"/>
          <p:cNvSpPr/>
          <p:nvPr/>
        </p:nvSpPr>
        <p:spPr>
          <a:xfrm>
            <a:off x="8321040" y="504748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expand RI coverage</a:t>
            </a:r>
            <a:endParaRPr lang="en-US" sz="950" dirty="0"/>
          </a:p>
        </p:txBody>
      </p:sp>
      <p:pic>
        <p:nvPicPr>
          <p:cNvPr id="64" name="Image 2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5504688"/>
            <a:ext cx="164592" cy="164592"/>
          </a:xfrm>
          <a:prstGeom prst="rect">
            <a:avLst/>
          </a:prstGeom>
        </p:spPr>
      </p:pic>
      <p:sp>
        <p:nvSpPr>
          <p:cNvPr id="65" name="Text 42"/>
          <p:cNvSpPr/>
          <p:nvPr/>
        </p:nvSpPr>
        <p:spPr>
          <a:xfrm>
            <a:off x="8321040" y="548640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fine-tuning</a:t>
            </a:r>
            <a:endParaRPr lang="en-US" sz="950" dirty="0"/>
          </a:p>
        </p:txBody>
      </p:sp>
      <p:sp>
        <p:nvSpPr>
          <p:cNvPr id="66" name="Shape 43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A2F5C"/>
          </a:solidFill>
          <a:ln w="12700">
            <a:solidFill>
              <a:srgbClr val="1A2F5C"/>
            </a:solidFill>
            <a:prstDash val="solid"/>
          </a:ln>
        </p:spPr>
      </p:sp>
      <p:sp>
        <p:nvSpPr>
          <p:cNvPr id="67" name="Text 44"/>
          <p:cNvSpPr/>
          <p:nvPr/>
        </p:nvSpPr>
        <p:spPr>
          <a:xfrm>
            <a:off x="411480" y="653796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COST OPTIMIZATION PROPOSAL  | 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SAVINGS BREAKDOWN</a:t>
            </a:r>
            <a:endParaRPr lang="en-US" sz="2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11480" y="1143000"/>
          <a:ext cx="6583680" cy="5120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315200" y="1280160"/>
            <a:ext cx="45720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0" y="1280160"/>
            <a:ext cx="73152" cy="146304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52360" y="1627632"/>
            <a:ext cx="640080" cy="640080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088" y="1737360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29600" y="146304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25–40%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8229600" y="208483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Monthly Savings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7315200" y="3017520"/>
            <a:ext cx="45720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315200" y="3017520"/>
            <a:ext cx="73152" cy="146304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452360" y="3364992"/>
            <a:ext cx="640080" cy="64008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3474720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29600" y="320040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3000" dirty="0"/>
          </a:p>
        </p:txBody>
      </p:sp>
      <p:sp>
        <p:nvSpPr>
          <p:cNvPr id="17" name="Text 12"/>
          <p:cNvSpPr/>
          <p:nvPr/>
        </p:nvSpPr>
        <p:spPr>
          <a:xfrm>
            <a:off x="8229600" y="382219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First Savings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7315200" y="4754880"/>
            <a:ext cx="45720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315200" y="4754880"/>
            <a:ext cx="73152" cy="146304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52360" y="5102352"/>
            <a:ext cx="640080" cy="64008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2088" y="5212080"/>
            <a:ext cx="420624" cy="4206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29600" y="493776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12x</a:t>
            </a:r>
            <a:endParaRPr lang="en-US" sz="3000" dirty="0"/>
          </a:p>
        </p:txBody>
      </p:sp>
      <p:sp>
        <p:nvSpPr>
          <p:cNvPr id="23" name="Text 17"/>
          <p:cNvSpPr/>
          <p:nvPr/>
        </p:nvSpPr>
        <p:spPr>
          <a:xfrm>
            <a:off x="8229600" y="555955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ROI on engagement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11480" y="6400800"/>
            <a:ext cx="11338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Savings estimates based on industry benchmarks. Actual results depend on current environment audit.</a:t>
            </a:r>
            <a:endParaRPr lang="en-US" sz="750" dirty="0"/>
          </a:p>
        </p:txBody>
      </p:sp>
      <p:sp>
        <p:nvSpPr>
          <p:cNvPr id="25" name="Shape 19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411480" y="655624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COST OPTIMIZATION PROPOSAL  | 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RECEIVE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6858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&amp; Our Commitment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554480"/>
            <a:ext cx="3474720" cy="2103120"/>
          </a:xfrm>
          <a:prstGeom prst="rect">
            <a:avLst/>
          </a:prstGeom>
          <a:solidFill>
            <a:srgbClr val="1A2F5C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737360"/>
            <a:ext cx="502920" cy="50292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837944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737360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Cost Assessment Report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" y="2359152"/>
            <a:ext cx="3108960" cy="0"/>
          </a:xfrm>
          <a:prstGeom prst="line">
            <a:avLst/>
          </a:prstGeom>
          <a:noFill/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246888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of your Azure environment — every idle resource, every RI opportunity, and top 10 cost killers identified.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114800" y="1554480"/>
            <a:ext cx="3474720" cy="2103120"/>
          </a:xfrm>
          <a:prstGeom prst="rect">
            <a:avLst/>
          </a:prstGeom>
          <a:solidFill>
            <a:srgbClr val="1A2F5C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297680" y="1737360"/>
            <a:ext cx="502920" cy="50292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8264" y="1837944"/>
            <a:ext cx="301752" cy="30175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937760" y="1737360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Cost Dashboard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297680" y="2359152"/>
            <a:ext cx="3108960" cy="0"/>
          </a:xfrm>
          <a:prstGeom prst="line">
            <a:avLst/>
          </a:prstGeom>
          <a:noFill/>
          <a:ln w="12700">
            <a:solidFill>
              <a:srgbClr val="00897B">
                <a:alpha val="40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297680" y="246888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drill-down dashboard showing costs by service, resource group, team, and environment — updated daily.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7818120" y="1554480"/>
            <a:ext cx="3474720" cy="2103120"/>
          </a:xfrm>
          <a:prstGeom prst="rect">
            <a:avLst/>
          </a:prstGeom>
          <a:solidFill>
            <a:srgbClr val="1A2F5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001000" y="1737360"/>
            <a:ext cx="502920" cy="50292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1584" y="1837944"/>
            <a:ext cx="301752" cy="30175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641080" y="1737360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Scripts &amp; Runbooks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8001000" y="2359152"/>
            <a:ext cx="3108960" cy="0"/>
          </a:xfrm>
          <a:prstGeom prst="line">
            <a:avLst/>
          </a:prstGeom>
          <a:noFill/>
          <a:ln w="12700">
            <a:solidFill>
              <a:srgbClr val="F9A825">
                <a:alpha val="40000"/>
              </a:srgbClr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8001000" y="246888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 + Azure CLI scripts for auto-shutdown, orphan cleanup, tagging, and lifecycle management. Fully documented.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411480" y="3886200"/>
            <a:ext cx="3474720" cy="2103120"/>
          </a:xfrm>
          <a:prstGeom prst="rect">
            <a:avLst/>
          </a:prstGeom>
          <a:solidFill>
            <a:srgbClr val="1A2F5C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594360" y="4069080"/>
            <a:ext cx="502920" cy="502920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" y="4169664"/>
            <a:ext cx="301752" cy="30175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234440" y="4069080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Tagging &amp; Policy Framework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594360" y="4690872"/>
            <a:ext cx="3108960" cy="0"/>
          </a:xfrm>
          <a:prstGeom prst="line">
            <a:avLst/>
          </a:prstGeom>
          <a:noFill/>
          <a:ln w="12700">
            <a:solidFill>
              <a:srgbClr val="43A047">
                <a:alpha val="40000"/>
              </a:srgbClr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594360" y="480060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tag schema enforced by Azure Policy — with chargeback reports so every team owns their spend.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4114800" y="3886200"/>
            <a:ext cx="3474720" cy="2103120"/>
          </a:xfrm>
          <a:prstGeom prst="rect">
            <a:avLst/>
          </a:prstGeom>
          <a:solidFill>
            <a:srgbClr val="1A2F5C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4297680" y="4069080"/>
            <a:ext cx="502920" cy="502920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98264" y="4169664"/>
            <a:ext cx="301752" cy="30175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937760" y="4069080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 &amp; Savings Plan Strategy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4297680" y="4690872"/>
            <a:ext cx="3108960" cy="0"/>
          </a:xfrm>
          <a:prstGeom prst="line">
            <a:avLst/>
          </a:prstGeom>
          <a:noFill/>
          <a:ln w="12700">
            <a:solidFill>
              <a:srgbClr val="42A5F5">
                <a:alpha val="40000"/>
              </a:srgbClr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4297680" y="480060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recommendation on which workloads to reserve and at what term — maximizing discount without risk.</a:t>
            </a:r>
            <a:endParaRPr lang="en-US" sz="950" dirty="0"/>
          </a:p>
        </p:txBody>
      </p:sp>
      <p:sp>
        <p:nvSpPr>
          <p:cNvPr id="35" name="Shape 28"/>
          <p:cNvSpPr/>
          <p:nvPr/>
        </p:nvSpPr>
        <p:spPr>
          <a:xfrm>
            <a:off x="7818120" y="3886200"/>
            <a:ext cx="3474720" cy="2103120"/>
          </a:xfrm>
          <a:prstGeom prst="rect">
            <a:avLst/>
          </a:prstGeom>
          <a:solidFill>
            <a:srgbClr val="1A2F5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8001000" y="4069080"/>
            <a:ext cx="502920" cy="50292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01584" y="4169664"/>
            <a:ext cx="301752" cy="301752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8641080" y="4069080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FinOps Reviews</a:t>
            </a:r>
            <a:endParaRPr lang="en-US" sz="1100" dirty="0"/>
          </a:p>
        </p:txBody>
      </p:sp>
      <p:sp>
        <p:nvSpPr>
          <p:cNvPr id="39" name="Shape 31"/>
          <p:cNvSpPr/>
          <p:nvPr/>
        </p:nvSpPr>
        <p:spPr>
          <a:xfrm>
            <a:off x="8001000" y="4690872"/>
            <a:ext cx="3108960" cy="0"/>
          </a:xfrm>
          <a:prstGeom prst="line">
            <a:avLst/>
          </a:prstGeom>
          <a:noFill/>
          <a:ln w="12700">
            <a:solidFill>
              <a:srgbClr val="F9A825">
                <a:alpha val="40000"/>
              </a:srgbClr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8001000" y="480060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monthly review sessions to track savings, identify new opportunities, and keep costs trending down.</a:t>
            </a:r>
            <a:endParaRPr lang="en-US" sz="950" dirty="0"/>
          </a:p>
        </p:txBody>
      </p:sp>
      <p:sp>
        <p:nvSpPr>
          <p:cNvPr id="41" name="Shape 33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A2F5C"/>
          </a:solidFill>
          <a:ln w="12700">
            <a:solidFill>
              <a:srgbClr val="1A2F5C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411480" y="653796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COST OPTIMIZATION PROPOSAL  | 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6217920" cy="6858000"/>
          </a:xfrm>
          <a:prstGeom prst="rect">
            <a:avLst/>
          </a:prstGeom>
          <a:solidFill>
            <a:srgbClr val="1A2F5C"/>
          </a:solidFill>
          <a:ln w="12700">
            <a:solidFill>
              <a:srgbClr val="1A2F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27432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100584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0" y="173736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0" y="246888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0" y="320040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0" y="393192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466344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539496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0" y="612648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33488" y="27432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33488" y="100584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33488" y="173736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33488" y="246888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33488" y="320040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33488" y="393192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33488" y="466344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33488" y="539496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33488" y="612648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83296" y="27432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83296" y="100584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83296" y="173736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83296" y="246888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83296" y="320040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83296" y="393192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83296" y="466344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83296" y="539496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83296" y="612648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833104" y="27432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833104" y="100584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833104" y="173736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833104" y="246888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833104" y="320040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33104" y="393192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833104" y="466344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833104" y="539496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833104" y="612648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582912" y="27432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582912" y="100584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582912" y="173736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582912" y="246888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582912" y="320040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582912" y="393192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582912" y="466344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582912" y="539496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582912" y="612648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332720" y="27432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332720" y="100584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32720" y="173736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332720" y="246888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332720" y="320040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332720" y="393192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332720" y="466344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332720" y="539496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332720" y="612648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082528" y="27432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082528" y="100584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082528" y="173736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1082528" y="246888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1082528" y="320040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082528" y="393192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1082528" y="466344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1082528" y="539496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1082528" y="6126480"/>
            <a:ext cx="64008" cy="64008"/>
          </a:xfrm>
          <a:prstGeom prst="ellipse">
            <a:avLst/>
          </a:prstGeom>
          <a:solidFill>
            <a:srgbClr val="1E88E5">
              <a:alpha val="35000"/>
            </a:srgbClr>
          </a:solidFill>
          <a:ln w="12700">
            <a:solidFill>
              <a:srgbClr val="1E88E5">
                <a:alpha val="35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11480" y="822960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411480" y="1234440"/>
            <a:ext cx="5303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start saving</a:t>
            </a:r>
            <a:endParaRPr lang="en-US" sz="3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Azure budget</a:t>
            </a:r>
            <a:endParaRPr lang="en-US" sz="3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today.</a:t>
            </a:r>
            <a:endParaRPr lang="en-US" sz="3400" dirty="0"/>
          </a:p>
        </p:txBody>
      </p:sp>
      <p:sp>
        <p:nvSpPr>
          <p:cNvPr id="69" name="Text 67"/>
          <p:cNvSpPr/>
          <p:nvPr/>
        </p:nvSpPr>
        <p:spPr>
          <a:xfrm>
            <a:off x="411480" y="3291840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upfront cost. No disruption.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measurable, sustainable savings.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411480" y="4160520"/>
            <a:ext cx="365760" cy="36576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11480" y="4169664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914400" y="421538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 30-min discovery call</a:t>
            </a:r>
            <a:endParaRPr lang="en-US" sz="1150" dirty="0"/>
          </a:p>
        </p:txBody>
      </p:sp>
      <p:sp>
        <p:nvSpPr>
          <p:cNvPr id="73" name="Shape 71"/>
          <p:cNvSpPr/>
          <p:nvPr/>
        </p:nvSpPr>
        <p:spPr>
          <a:xfrm>
            <a:off x="411480" y="4663440"/>
            <a:ext cx="365760" cy="36576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11480" y="4672584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75" name="Text 73"/>
          <p:cNvSpPr/>
          <p:nvPr/>
        </p:nvSpPr>
        <p:spPr>
          <a:xfrm>
            <a:off x="914400" y="471830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run a free 1-week cost assessment</a:t>
            </a:r>
            <a:endParaRPr lang="en-US" sz="1150" dirty="0"/>
          </a:p>
        </p:txBody>
      </p:sp>
      <p:sp>
        <p:nvSpPr>
          <p:cNvPr id="76" name="Shape 74"/>
          <p:cNvSpPr/>
          <p:nvPr/>
        </p:nvSpPr>
        <p:spPr>
          <a:xfrm>
            <a:off x="411480" y="5166360"/>
            <a:ext cx="365760" cy="36576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11480" y="5175504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78" name="Text 76"/>
          <p:cNvSpPr/>
          <p:nvPr/>
        </p:nvSpPr>
        <p:spPr>
          <a:xfrm>
            <a:off x="914400" y="522122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receive a detailed savings roadmap</a:t>
            </a:r>
            <a:endParaRPr lang="en-US" sz="1150" dirty="0"/>
          </a:p>
        </p:txBody>
      </p:sp>
      <p:sp>
        <p:nvSpPr>
          <p:cNvPr id="79" name="Shape 77"/>
          <p:cNvSpPr/>
          <p:nvPr/>
        </p:nvSpPr>
        <p:spPr>
          <a:xfrm>
            <a:off x="411480" y="5669280"/>
            <a:ext cx="365760" cy="36576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11480" y="5678424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81" name="Text 79"/>
          <p:cNvSpPr/>
          <p:nvPr/>
        </p:nvSpPr>
        <p:spPr>
          <a:xfrm>
            <a:off x="914400" y="572414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begin execution — you start saving</a:t>
            </a:r>
            <a:endParaRPr lang="en-US" sz="1150" dirty="0"/>
          </a:p>
        </p:txBody>
      </p:sp>
      <p:sp>
        <p:nvSpPr>
          <p:cNvPr id="82" name="Shape 80"/>
          <p:cNvSpPr/>
          <p:nvPr/>
        </p:nvSpPr>
        <p:spPr>
          <a:xfrm>
            <a:off x="6492240" y="1097280"/>
            <a:ext cx="5303520" cy="5120640"/>
          </a:xfrm>
          <a:prstGeom prst="rect">
            <a:avLst/>
          </a:prstGeom>
          <a:solidFill>
            <a:srgbClr val="0D1B3E"/>
          </a:solidFill>
          <a:ln w="12700">
            <a:solidFill>
              <a:srgbClr val="1E8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3" name="Text 81"/>
          <p:cNvSpPr/>
          <p:nvPr/>
        </p:nvSpPr>
        <p:spPr>
          <a:xfrm>
            <a:off x="6675120" y="15087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 TOUCH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7863840" y="1965960"/>
            <a:ext cx="2651760" cy="54864"/>
          </a:xfrm>
          <a:prstGeom prst="ellipse">
            <a:avLst/>
          </a:prstGeom>
          <a:solidFill>
            <a:srgbClr val="1E88E5">
              <a:alpha val="30000"/>
            </a:srgbClr>
          </a:solidFill>
          <a:ln w="12700">
            <a:solidFill>
              <a:srgbClr val="1E88E5">
                <a:alpha val="30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321040" y="2194560"/>
            <a:ext cx="1737360" cy="1737360"/>
          </a:xfrm>
          <a:prstGeom prst="ellipse">
            <a:avLst/>
          </a:prstGeom>
          <a:solidFill>
            <a:srgbClr val="1A2F5C"/>
          </a:solidFill>
          <a:ln w="12700">
            <a:solidFill>
              <a:srgbClr val="1E88E5"/>
            </a:solidFill>
            <a:prstDash val="solid"/>
          </a:ln>
        </p:spPr>
      </p:sp>
      <p:pic>
        <p:nvPicPr>
          <p:cNvPr id="8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2505456"/>
            <a:ext cx="1097280" cy="1097280"/>
          </a:xfrm>
          <a:prstGeom prst="rect">
            <a:avLst/>
          </a:prstGeom>
        </p:spPr>
      </p:pic>
      <p:sp>
        <p:nvSpPr>
          <p:cNvPr id="87" name="Text 84"/>
          <p:cNvSpPr/>
          <p:nvPr/>
        </p:nvSpPr>
        <p:spPr>
          <a:xfrm>
            <a:off x="6675120" y="41148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FinOps Practice</a:t>
            </a:r>
            <a:endParaRPr lang="en-US" sz="1400" dirty="0"/>
          </a:p>
        </p:txBody>
      </p:sp>
      <p:sp>
        <p:nvSpPr>
          <p:cNvPr id="88" name="Text 85"/>
          <p:cNvSpPr/>
          <p:nvPr/>
        </p:nvSpPr>
        <p:spPr>
          <a:xfrm>
            <a:off x="6675120" y="448056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Cost Optimization Specialists</a:t>
            </a:r>
            <a:endParaRPr lang="en-US" sz="1000" dirty="0"/>
          </a:p>
        </p:txBody>
      </p:sp>
      <p:sp>
        <p:nvSpPr>
          <p:cNvPr id="89" name="Text 86"/>
          <p:cNvSpPr/>
          <p:nvPr/>
        </p:nvSpPr>
        <p:spPr>
          <a:xfrm>
            <a:off x="6675120" y="48920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  finops@yourcompany.com</a:t>
            </a:r>
            <a:endParaRPr lang="en-US" sz="1000" dirty="0"/>
          </a:p>
        </p:txBody>
      </p:sp>
      <p:sp>
        <p:nvSpPr>
          <p:cNvPr id="90" name="Text 87"/>
          <p:cNvSpPr/>
          <p:nvPr/>
        </p:nvSpPr>
        <p:spPr>
          <a:xfrm>
            <a:off x="6675120" y="522122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☎  +91 8130979874</a:t>
            </a:r>
            <a:endParaRPr lang="en-US" sz="1000" dirty="0"/>
          </a:p>
        </p:txBody>
      </p:sp>
      <p:sp>
        <p:nvSpPr>
          <p:cNvPr id="91" name="Text 88"/>
          <p:cNvSpPr/>
          <p:nvPr/>
        </p:nvSpPr>
        <p:spPr>
          <a:xfrm>
            <a:off x="6675120" y="555040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https://birennegi.github.io/devops-geeks</a:t>
            </a:r>
            <a:endParaRPr lang="en-US" sz="1000" dirty="0"/>
          </a:p>
        </p:txBody>
      </p:sp>
      <p:sp>
        <p:nvSpPr>
          <p:cNvPr id="92" name="Shape 89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A2F5C"/>
          </a:solidFill>
          <a:ln w="12700">
            <a:solidFill>
              <a:srgbClr val="1A2F5C"/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411480" y="6537960"/>
            <a:ext cx="11338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Azure Cost Optimization Proposal  |  ©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839</Words>
  <Application>Microsoft Office PowerPoint</Application>
  <PresentationFormat>Widescreen</PresentationFormat>
  <Paragraphs>182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 Cost Optimization Proposal</dc:title>
  <dc:subject>PptxGenJS Presentation</dc:subject>
  <dc:creator>Cloud FinOps Team</dc:creator>
  <cp:lastModifiedBy>Birendra Singh</cp:lastModifiedBy>
  <cp:revision>2</cp:revision>
  <dcterms:created xsi:type="dcterms:W3CDTF">2026-03-12T10:44:15Z</dcterms:created>
  <dcterms:modified xsi:type="dcterms:W3CDTF">2026-03-12T10:59:37Z</dcterms:modified>
</cp:coreProperties>
</file>